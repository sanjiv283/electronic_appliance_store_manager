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2 delivered the database and backend. Review 3 completes the application: authentication, roles, employee and account management, hardening and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that the Decimal bug was caught by the student during manual use, after offline tests passed — evidence that live testing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flow left to right; stress that the browser never talks to Oracle and routes contain no 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a cashier login and a 403 on a manager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Passwords are never stored; only the hash.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Screenshots are rendered from the real templates with stubbed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Role-filtered navigation, and the default-deny result when a cashier types a manager URL.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Decimal bug passed all offline tests; the student found it by using the app against Oracle.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Fakes prove logic, not Oracle behaviour; that is why the live suite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upfront about the deferred throttle redesign and that HTTPS was not exercised.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Offer to demonstrate a manager login, a cashier sale and a 403.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75688"/>
            <a:ext cx="12191695" cy="36576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0E5FF"/>
                </a:solidFill>
                <a:latin typeface="Calibri"/>
              </a:rPr>
              <a:t>DATABASE MANAGEMENT SYSTEMS · REVIEW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60704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800" b="1">
                <a:solidFill>
                  <a:srgbClr val="E8EEF8"/>
                </a:solidFill>
                <a:latin typeface="Calibri"/>
              </a:rPr>
              <a:t>Electronic Appliance</a:t>
            </a:r>
          </a:p>
          <a:p>
            <a:pPr algn="l"/>
            <a:r>
              <a:rPr sz="4800" b="1">
                <a:solidFill>
                  <a:srgbClr val="E8EEF8"/>
                </a:solidFill>
                <a:latin typeface="Calibri"/>
              </a:rPr>
              <a:t>Store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607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>
                <a:solidFill>
                  <a:srgbClr val="9AA7C7"/>
                </a:solidFill>
                <a:latin typeface="Calibri"/>
              </a:rPr>
              <a:t>Final web application: login, roles, management screens,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73152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0">
                <a:solidFill>
                  <a:srgbClr val="E8EEF8"/>
                </a:solidFill>
                <a:latin typeface="Calibri"/>
              </a:rPr>
              <a:t>Sanjiv Shine Fernandas</a:t>
            </a:r>
          </a:p>
          <a:p>
            <a:pPr algn="l"/>
            <a:r>
              <a:rPr sz="2000" b="0">
                <a:solidFill>
                  <a:srgbClr val="E8EEF8"/>
                </a:solidFill>
                <a:latin typeface="Calibri"/>
              </a:rPr>
              <a:t>Subject: Database Management Systems (DBMS)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4754880"/>
            <a:ext cx="402336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00E5FF"/>
                </a:solidFill>
                <a:latin typeface="Consolas"/>
              </a:rPr>
              <a:t>Oracle Database 21c XE · XEPDB1</a:t>
            </a:r>
          </a:p>
          <a:p>
            <a:pPr algn="l"/>
            <a:r>
              <a:rPr sz="1500" b="0">
                <a:solidFill>
                  <a:srgbClr val="00E5FF"/>
                </a:solidFill>
                <a:latin typeface="Consolas"/>
              </a:rPr>
              <a:t>Flask · python-oracledb (Thin)</a:t>
            </a:r>
          </a:p>
          <a:p>
            <a:pPr algn="l"/>
            <a:r>
              <a:rPr sz="1500" b="0">
                <a:solidFill>
                  <a:srgbClr val="00E5FF"/>
                </a:solidFill>
                <a:latin typeface="Consolas"/>
              </a:rPr>
              <a:t>waitress · pytest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09360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9AA7C7"/>
                </a:solidFill>
                <a:latin typeface="Calibri"/>
              </a:rPr>
              <a:t>github.com/sanjiv283/Electronic_Appliance_Store_Manager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E8EEF8"/>
                </a:solidFill>
                <a:latin typeface="Calibri"/>
              </a:rPr>
              <a:t>What Review 3 adds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96112"/>
            <a:ext cx="1005840" cy="45720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AA7C7"/>
                </a:solidFill>
                <a:latin typeface="Calibri"/>
              </a:rPr>
              <a:t>On top of the Review 2 schema, queries, PL/SQL objects and atomic sales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9AA7C7"/>
                </a:solidFill>
                <a:latin typeface="Calibri"/>
              </a:rPr>
              <a:t>Electronic Appliance Store Management System · DBMS Review 3 · Sanjiv Shine Fernandas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9AA7C7"/>
                </a:solidFill>
                <a:latin typeface="Calibri"/>
              </a:rPr>
              <a:t>2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00E5FF"/>
                </a:solidFill>
                <a:latin typeface="Calibri"/>
              </a:rPr>
              <a:t>▪ </a:t>
            </a:r>
            <a:r>
              <a:rPr sz="1700">
                <a:solidFill>
                  <a:srgbClr val="E8EEF8"/>
                </a:solidFill>
                <a:latin typeface="Calibri"/>
              </a:rPr>
              <a:t>Sign-in with two roles: Manager and Cashier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00E5FF"/>
                </a:solidFill>
                <a:latin typeface="Calibri"/>
              </a:rPr>
              <a:t>▪ </a:t>
            </a:r>
            <a:r>
              <a:rPr sz="1700">
                <a:solidFill>
                  <a:srgbClr val="E8EEF8"/>
                </a:solidFill>
                <a:latin typeface="Calibri"/>
              </a:rPr>
              <a:t>Default-deny access: every page needs sign-in except /login and /health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00E5FF"/>
                </a:solidFill>
                <a:latin typeface="Calibri"/>
              </a:rPr>
              <a:t>▪ </a:t>
            </a:r>
            <a:r>
              <a:rPr sz="1700">
                <a:solidFill>
                  <a:srgbClr val="E8EEF8"/>
                </a:solidFill>
                <a:latin typeface="Calibri"/>
              </a:rPr>
              <a:t>Employee management and user-account management (managers)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00E5FF"/>
                </a:solidFill>
                <a:latin typeface="Calibri"/>
              </a:rPr>
              <a:t>▪ </a:t>
            </a:r>
            <a:r>
              <a:rPr sz="1700">
                <a:solidFill>
                  <a:srgbClr val="E8EEF8"/>
                </a:solidFill>
                <a:latin typeface="Calibri"/>
              </a:rPr>
              <a:t>Sale 'sold by' is always the signed-in employee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00E5FF"/>
                </a:solidFill>
                <a:latin typeface="Calibri"/>
              </a:rPr>
              <a:t>▪ </a:t>
            </a:r>
            <a:r>
              <a:rPr sz="1700">
                <a:solidFill>
                  <a:srgbClr val="E8EEF8"/>
                </a:solidFill>
                <a:latin typeface="Calibri"/>
              </a:rPr>
              <a:t>Change own password; scrypt password hashes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00E5FF"/>
                </a:solidFill>
                <a:latin typeface="Calibri"/>
              </a:rPr>
              <a:t>▪ </a:t>
            </a:r>
            <a:r>
              <a:rPr sz="1700">
                <a:solidFill>
                  <a:srgbClr val="E8EEF8"/>
                </a:solidFill>
                <a:latin typeface="Calibri"/>
              </a:rPr>
              <a:t>8th table USERS in a separate script (auth.sql)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37160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00E5FF"/>
                </a:solidFill>
                <a:latin typeface="Calibri"/>
              </a:rPr>
              <a:t>▪ </a:t>
            </a:r>
            <a:r>
              <a:rPr sz="1700">
                <a:solidFill>
                  <a:srgbClr val="E8EEF8"/>
                </a:solidFill>
                <a:latin typeface="Calibri"/>
              </a:rPr>
              <a:t>Security hardening: open-redirect fix, status-only /health, clean CLI errors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00E5FF"/>
                </a:solidFill>
                <a:latin typeface="Calibri"/>
              </a:rPr>
              <a:t>▪ </a:t>
            </a:r>
            <a:r>
              <a:rPr sz="1700">
                <a:solidFill>
                  <a:srgbClr val="E8EEF8"/>
                </a:solidFill>
                <a:latin typeface="Calibri"/>
              </a:rPr>
              <a:t>Bug found in manual testing: Oracle Decimal ids broke the 'cannot delete yourself' check — fixed with tests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00E5FF"/>
                </a:solidFill>
                <a:latin typeface="Calibri"/>
              </a:rPr>
              <a:t>▪ </a:t>
            </a:r>
            <a:r>
              <a:rPr sz="1700">
                <a:solidFill>
                  <a:srgbClr val="E8EEF8"/>
                </a:solidFill>
                <a:latin typeface="Calibri"/>
              </a:rPr>
              <a:t>Production-style launcher (waitress) and deployment guide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00E5FF"/>
                </a:solidFill>
                <a:latin typeface="Calibri"/>
              </a:rPr>
              <a:t>▪ </a:t>
            </a:r>
            <a:r>
              <a:rPr sz="1700">
                <a:solidFill>
                  <a:srgbClr val="E8EEF8"/>
                </a:solidFill>
                <a:latin typeface="Calibri"/>
              </a:rPr>
              <a:t>Manager accounts cannot be deleted in the app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00E5FF"/>
                </a:solidFill>
                <a:latin typeface="Calibri"/>
              </a:rPr>
              <a:t>▪ </a:t>
            </a:r>
            <a:r>
              <a:rPr sz="1700">
                <a:solidFill>
                  <a:srgbClr val="E8EEF8"/>
                </a:solidFill>
                <a:latin typeface="Calibri"/>
              </a:rPr>
              <a:t>Live Oracle: 19/19 integration tests and 16/16 queries passed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E8EEF8"/>
                </a:solidFill>
                <a:latin typeface="Calibri"/>
              </a:rPr>
              <a:t>Architecture and request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96112"/>
            <a:ext cx="1005840" cy="45720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AA7C7"/>
                </a:solidFill>
                <a:latin typeface="Calibri"/>
              </a:rPr>
              <a:t>Routes call services; services own all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9AA7C7"/>
                </a:solidFill>
                <a:latin typeface="Calibri"/>
              </a:rPr>
              <a:t>Electronic Appliance Store Management System · DBMS Review 3 · Sanjiv Shine Fernandas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9AA7C7"/>
                </a:solidFill>
                <a:latin typeface="Calibri"/>
              </a:rPr>
              <a:t>3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2011680" cy="1188720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1587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2011680" cy="10972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E8EEF8"/>
                </a:solidFill>
                <a:latin typeface="Calibri"/>
              </a:rPr>
              <a:t>Browser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0320" y="2148840"/>
            <a:ext cx="274320" cy="0"/>
          </a:xfrm>
          <a:prstGeom prst="line">
            <a:avLst/>
          </a:prstGeom>
          <a:ln w="31750">
            <a:solidFill>
              <a:srgbClr val="FFB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34640" y="1554480"/>
            <a:ext cx="2011680" cy="1188720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15875">
            <a:solidFill>
              <a:srgbClr val="FF2E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1600200"/>
            <a:ext cx="2011680" cy="10972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E8EEF8"/>
                </a:solidFill>
                <a:latin typeface="Calibri"/>
              </a:rPr>
              <a:t>Flask routes</a:t>
            </a:r>
          </a:p>
          <a:p>
            <a:pPr algn="ctr"/>
            <a:r>
              <a:rPr sz="1400" b="1">
                <a:solidFill>
                  <a:srgbClr val="E8EEF8"/>
                </a:solidFill>
                <a:latin typeface="Calibri"/>
              </a:rPr>
              <a:t>login gate · CSRF · roles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46320" y="2148840"/>
            <a:ext cx="274320" cy="0"/>
          </a:xfrm>
          <a:prstGeom prst="line">
            <a:avLst/>
          </a:prstGeom>
          <a:ln w="31750">
            <a:solidFill>
              <a:srgbClr val="FFB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20640" y="1554480"/>
            <a:ext cx="2011680" cy="1188720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1587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600200"/>
            <a:ext cx="2011680" cy="10972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E8EEF8"/>
                </a:solidFill>
                <a:latin typeface="Calibri"/>
              </a:rPr>
              <a:t>services/*.py</a:t>
            </a:r>
          </a:p>
          <a:p>
            <a:pPr algn="ctr"/>
            <a:r>
              <a:rPr sz="1400" b="1">
                <a:solidFill>
                  <a:srgbClr val="E8EEF8"/>
                </a:solidFill>
                <a:latin typeface="Calibri"/>
              </a:rPr>
              <a:t>all SQL, bind variables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32320" y="2148840"/>
            <a:ext cx="274320" cy="0"/>
          </a:xfrm>
          <a:prstGeom prst="line">
            <a:avLst/>
          </a:prstGeom>
          <a:ln w="31750">
            <a:solidFill>
              <a:srgbClr val="FFB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06640" y="1554480"/>
            <a:ext cx="2011680" cy="1188720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15875">
            <a:solidFill>
              <a:srgbClr val="FF2E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1600200"/>
            <a:ext cx="2011680" cy="10972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E8EEF8"/>
                </a:solidFill>
                <a:latin typeface="Calibri"/>
              </a:rPr>
              <a:t>python-oracledb (Thin)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418320" y="2148840"/>
            <a:ext cx="274320" cy="0"/>
          </a:xfrm>
          <a:prstGeom prst="line">
            <a:avLst/>
          </a:prstGeom>
          <a:ln w="31750">
            <a:solidFill>
              <a:srgbClr val="FFB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692640" y="1554480"/>
            <a:ext cx="2011680" cy="1188720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1587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1600200"/>
            <a:ext cx="2011680" cy="10972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E8EEF8"/>
                </a:solidFill>
                <a:latin typeface="Calibri"/>
              </a:rPr>
              <a:t>Oracle XEPDB1</a:t>
            </a:r>
          </a:p>
          <a:p>
            <a:pPr algn="ctr"/>
            <a:r>
              <a:rPr sz="1400" b="1">
                <a:solidFill>
                  <a:srgbClr val="E8EEF8"/>
                </a:solidFill>
                <a:latin typeface="Calibri"/>
              </a:rPr>
              <a:t>8 tables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200400"/>
            <a:ext cx="11064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00E5FF"/>
                </a:solidFill>
                <a:latin typeface="Calibri"/>
              </a:rPr>
              <a:t>▪ </a:t>
            </a:r>
            <a:r>
              <a:rPr sz="1600">
                <a:solidFill>
                  <a:srgbClr val="E8EEF8"/>
                </a:solidFill>
                <a:latin typeface="Calibri"/>
              </a:rPr>
              <a:t>Stock is deducted in exactly one place (services/sales.create_sale), never in a trigger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E5FF"/>
                </a:solidFill>
                <a:latin typeface="Calibri"/>
              </a:rPr>
              <a:t>▪ </a:t>
            </a:r>
            <a:r>
              <a:rPr sz="1600">
                <a:solidFill>
                  <a:srgbClr val="E8EEF8"/>
                </a:solidFill>
                <a:latin typeface="Calibri"/>
              </a:rPr>
              <a:t>App connects only as appliance_app; configuration comes from environment variables only (.env, git-ignored)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E5FF"/>
                </a:solidFill>
                <a:latin typeface="Calibri"/>
              </a:rPr>
              <a:t>▪ </a:t>
            </a:r>
            <a:r>
              <a:rPr sz="1600">
                <a:solidFill>
                  <a:srgbClr val="E8EEF8"/>
                </a:solidFill>
                <a:latin typeface="Calibri"/>
              </a:rPr>
              <a:t>A before_request gate enforces sign-in; CASHIER_ENDPOINTS lists what cashiers may open; everything else is manager-only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E5FF"/>
                </a:solidFill>
                <a:latin typeface="Calibri"/>
              </a:rPr>
              <a:t>▪ </a:t>
            </a:r>
            <a:r>
              <a:rPr sz="1600">
                <a:solidFill>
                  <a:srgbClr val="E8EEF8"/>
                </a:solidFill>
                <a:latin typeface="Calibri"/>
              </a:rPr>
              <a:t>A test enumerates every registered route, so a new page cannot ship without an access decision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E8EEF8"/>
                </a:solidFill>
                <a:latin typeface="Calibri"/>
              </a:rPr>
              <a:t>Roles and permissions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96112"/>
            <a:ext cx="1005840" cy="45720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9AA7C7"/>
                </a:solidFill>
                <a:latin typeface="Calibri"/>
              </a:rPr>
              <a:t>Electronic Appliance Store Management System · DBMS Review 3 · Sanjiv Shine Fernandas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9AA7C7"/>
                </a:solidFill>
                <a:latin typeface="Calibri"/>
              </a:rPr>
              <a:t>4 / 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1099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3291840"/>
                <a:gridCol w="3794760"/>
              </a:tblGrid>
              <a:tr h="4800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1020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1020"/>
                          </a:solidFill>
                          <a:latin typeface="Calibri"/>
                        </a:rPr>
                        <a:t>Manager</a:t>
                      </a:r>
                    </a:p>
                  </a:txBody>
                  <a:tcPr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1020"/>
                          </a:solidFill>
                          <a:latin typeface="Calibri"/>
                        </a:rPr>
                        <a:t>Cashier</a:t>
                      </a:r>
                    </a:p>
                  </a:txBody>
                  <a:tcPr>
                    <a:solidFill>
                      <a:srgbClr val="00E5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New sale, sales history, sale detail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yes (sold-by = signed-in employee)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Products</a:t>
                      </a:r>
                    </a:p>
                  </a:txBody>
                  <a:tcPr>
                    <a:solidFill>
                      <a:srgbClr val="1C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full CRUD + restock</a:t>
                      </a:r>
                    </a:p>
                  </a:txBody>
                  <a:tcPr>
                    <a:solidFill>
                      <a:srgbClr val="1C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view only</a:t>
                      </a:r>
                    </a:p>
                  </a:txBody>
                  <a:tcPr>
                    <a:solidFill>
                      <a:srgbClr val="1C254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Customers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full CRUD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list, add, edit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Dashboard and reports</a:t>
                      </a:r>
                    </a:p>
                  </a:txBody>
                  <a:tcPr>
                    <a:solidFill>
                      <a:srgbClr val="1C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1C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no (HTTP 403)</a:t>
                      </a:r>
                    </a:p>
                  </a:txBody>
                  <a:tcPr>
                    <a:solidFill>
                      <a:srgbClr val="1C254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Categories and suppliers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full CRUD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no (HTTP 403)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Employees and user accounts</a:t>
                      </a:r>
                    </a:p>
                  </a:txBody>
                  <a:tcPr>
                    <a:solidFill>
                      <a:srgbClr val="1C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full CRUD (managers protected)</a:t>
                      </a:r>
                    </a:p>
                  </a:txBody>
                  <a:tcPr>
                    <a:solidFill>
                      <a:srgbClr val="1C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no (HTTP 403)</a:t>
                      </a:r>
                    </a:p>
                  </a:txBody>
                  <a:tcPr>
                    <a:solidFill>
                      <a:srgbClr val="1C254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Change own password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9AA7C7"/>
                </a:solidFill>
                <a:latin typeface="Calibri"/>
              </a:rPr>
              <a:t>Sessions last 8 hours. 5 failed sign-ins in 5 minutes return HTTP 429. Role changes apply at next sign-in.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E8EEF8"/>
                </a:solidFill>
                <a:latin typeface="Calibri"/>
              </a:rPr>
              <a:t>Database: the USERS 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96112"/>
            <a:ext cx="1005840" cy="45720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AA7C7"/>
                </a:solidFill>
                <a:latin typeface="Calibri"/>
              </a:rPr>
              <a:t>auth.sql runs after schema.sql · 8 tables in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9AA7C7"/>
                </a:solidFill>
                <a:latin typeface="Calibri"/>
              </a:rPr>
              <a:t>Electronic Appliance Store Management System · DBMS Review 3 · Sanjiv Shine Fernandas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9AA7C7"/>
                </a:solidFill>
                <a:latin typeface="Calibri"/>
              </a:rPr>
              <a:t>5 / 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67665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389120"/>
              </a:tblGrid>
              <a:tr h="47026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1020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1020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>
                    <a:solidFill>
                      <a:srgbClr val="00E5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USER_ID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identity primary key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USERNAME</a:t>
                      </a:r>
                    </a:p>
                  </a:txBody>
                  <a:tcPr>
                    <a:solidFill>
                      <a:srgbClr val="1C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unique, CHECK lower-case</a:t>
                      </a:r>
                    </a:p>
                  </a:txBody>
                  <a:tcPr>
                    <a:solidFill>
                      <a:srgbClr val="1C2547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PASSWORD_HASH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scrypt hash, never the password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1C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CHECK IN ('MANAGER','CASHIER')</a:t>
                      </a:r>
                    </a:p>
                  </a:txBody>
                  <a:tcPr>
                    <a:solidFill>
                      <a:srgbClr val="1C2547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EMPLOYEE_ID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UNIQUE foreign key to EMPLOYEES (one login per employee)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CREATED_AT, LAST_LOGIN</a:t>
                      </a:r>
                    </a:p>
                  </a:txBody>
                  <a:tcPr>
                    <a:solidFill>
                      <a:srgbClr val="1C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timestamps</a:t>
                      </a:r>
                    </a:p>
                  </a:txBody>
                  <a:tcPr>
                    <a:solidFill>
                      <a:srgbClr val="1C254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89520" y="14630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00E5FF"/>
                </a:solidFill>
                <a:latin typeface="Calibri"/>
              </a:rPr>
              <a:t>▪ </a:t>
            </a:r>
            <a:r>
              <a:rPr sz="1500">
                <a:solidFill>
                  <a:srgbClr val="E8EEF8"/>
                </a:solidFill>
                <a:latin typeface="Calibri"/>
              </a:rPr>
              <a:t>Load order: schema → advanced_features → seed → auth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0E5FF"/>
                </a:solidFill>
                <a:latin typeface="Calibri"/>
              </a:rPr>
              <a:t>▪ </a:t>
            </a:r>
            <a:r>
              <a:rPr sz="1500">
                <a:solidFill>
                  <a:srgbClr val="E8EEF8"/>
                </a:solidFill>
                <a:latin typeface="Calibri"/>
              </a:rPr>
              <a:t>No default accounts: the first manager is created with manage.py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0E5FF"/>
                </a:solidFill>
                <a:latin typeface="Calibri"/>
              </a:rPr>
              <a:t>▪ </a:t>
            </a:r>
            <a:r>
              <a:rPr sz="1500">
                <a:solidFill>
                  <a:srgbClr val="E8EEF8"/>
                </a:solidFill>
                <a:latin typeface="Calibri"/>
              </a:rPr>
              <a:t>Live test INT-17 proves the CHECK and UNIQUE rules on Oracle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E8EEF8"/>
                </a:solidFill>
                <a:latin typeface="Calibri"/>
              </a:rPr>
              <a:t>Sign-in and user accounts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96112"/>
            <a:ext cx="1005840" cy="45720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AA7C7"/>
                </a:solidFill>
                <a:latin typeface="Calibri"/>
              </a:rPr>
              <a:t>Real templates, sample data (not live records)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9AA7C7"/>
                </a:solidFill>
                <a:latin typeface="Calibri"/>
              </a:rPr>
              <a:t>Electronic Appliance Store Management System · DBMS Review 3 · Sanjiv Shine Fernandas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9AA7C7"/>
                </a:solidFill>
                <a:latin typeface="Calibri"/>
              </a:rPr>
              <a:t>6 / 11</a:t>
            </a:r>
          </a:p>
        </p:txBody>
      </p:sp>
      <p:pic>
        <p:nvPicPr>
          <p:cNvPr id="8" name="Picture 7" descr="r3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486400" cy="3213119"/>
          </a:xfrm>
          <a:prstGeom prst="rect">
            <a:avLst/>
          </a:prstGeom>
        </p:spPr>
      </p:pic>
      <p:pic>
        <p:nvPicPr>
          <p:cNvPr id="9" name="Picture 8" descr="r3_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71600"/>
            <a:ext cx="5486400" cy="321311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5720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9AA7C7"/>
                </a:solidFill>
                <a:latin typeface="Calibri"/>
              </a:rPr>
              <a:t>Sign-in 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45720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9AA7C7"/>
                </a:solidFill>
                <a:latin typeface="Calibri"/>
              </a:rPr>
              <a:t>User accounts: own row 'you', managers 'protected'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E8EEF8"/>
                </a:solidFill>
                <a:latin typeface="Calibri"/>
              </a:rPr>
              <a:t>Employees and cashier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96112"/>
            <a:ext cx="1005840" cy="45720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AA7C7"/>
                </a:solidFill>
                <a:latin typeface="Calibri"/>
              </a:rPr>
              <a:t>Real templates, sample data (not live records)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9AA7C7"/>
                </a:solidFill>
                <a:latin typeface="Calibri"/>
              </a:rPr>
              <a:t>Electronic Appliance Store Management System · DBMS Review 3 · Sanjiv Shine Fernandas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9AA7C7"/>
                </a:solidFill>
                <a:latin typeface="Calibri"/>
              </a:rPr>
              <a:t>7 / 11</a:t>
            </a:r>
          </a:p>
        </p:txBody>
      </p:sp>
      <p:pic>
        <p:nvPicPr>
          <p:cNvPr id="8" name="Picture 7" descr="r3_employe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3657600" cy="2142079"/>
          </a:xfrm>
          <a:prstGeom prst="rect">
            <a:avLst/>
          </a:prstGeom>
        </p:spPr>
      </p:pic>
      <p:pic>
        <p:nvPicPr>
          <p:cNvPr id="9" name="Picture 8" descr="r3_cashier_s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371600"/>
            <a:ext cx="3657600" cy="2142079"/>
          </a:xfrm>
          <a:prstGeom prst="rect">
            <a:avLst/>
          </a:prstGeom>
        </p:spPr>
      </p:pic>
      <p:pic>
        <p:nvPicPr>
          <p:cNvPr id="10" name="Picture 9" descr="r3_forbidd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371600"/>
            <a:ext cx="3657600" cy="21420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3749039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9AA7C7"/>
                </a:solidFill>
                <a:latin typeface="Calibri"/>
              </a:rPr>
              <a:t>Employee management (manager)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3749039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9AA7C7"/>
                </a:solidFill>
                <a:latin typeface="Calibri"/>
              </a:rPr>
              <a:t>Cashier: restricted navigation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749039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9AA7C7"/>
                </a:solidFill>
                <a:latin typeface="Calibri"/>
              </a:rPr>
              <a:t>Cashier opening a manager page: 403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E8EEF8"/>
                </a:solidFill>
                <a:latin typeface="Calibri"/>
              </a:rPr>
              <a:t>Security hardening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96112"/>
            <a:ext cx="1005840" cy="45720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AA7C7"/>
                </a:solidFill>
                <a:latin typeface="Calibri"/>
              </a:rPr>
              <a:t>Findings from review and manual testing, with fixes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9AA7C7"/>
                </a:solidFill>
                <a:latin typeface="Calibri"/>
              </a:rPr>
              <a:t>Electronic Appliance Store Management System · DBMS Review 3 · Sanjiv Shine Fernandas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9AA7C7"/>
                </a:solidFill>
                <a:latin typeface="Calibri"/>
              </a:rPr>
              <a:t>8 / 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71600"/>
          <a:ext cx="111099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2160"/>
                <a:gridCol w="5257800"/>
              </a:tblGrid>
              <a:tr h="6096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1020"/>
                          </a:solidFill>
                          <a:latin typeface="Calibri"/>
                        </a:rPr>
                        <a:t>Finding</a:t>
                      </a:r>
                    </a:p>
                  </a:txBody>
                  <a:tcPr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1020"/>
                          </a:solidFill>
                          <a:latin typeface="Calibri"/>
                        </a:rPr>
                        <a:t>Fix</a:t>
                      </a:r>
                    </a:p>
                  </a:txBody>
                  <a:tcPr>
                    <a:solidFill>
                      <a:srgbClr val="00E5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EF8"/>
                          </a:solidFill>
                          <a:latin typeface="Calibri"/>
                        </a:rPr>
                        <a:t>next= redirect with TAB/newline became an external URL or HTTP 500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EF8"/>
                          </a:solidFill>
                          <a:latin typeface="Calibri"/>
                        </a:rPr>
                        <a:t>same-site paths only; control chars, backslash, // rejected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EF8"/>
                          </a:solidFill>
                          <a:latin typeface="Calibri"/>
                        </a:rPr>
                        <a:t>manage.py traceback on missing configuration</a:t>
                      </a:r>
                    </a:p>
                  </a:txBody>
                  <a:tcPr>
                    <a:solidFill>
                      <a:srgbClr val="1C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EF8"/>
                          </a:solidFill>
                          <a:latin typeface="Calibri"/>
                        </a:rPr>
                        <a:t>prints FAILED: … and exits 1</a:t>
                      </a:r>
                    </a:p>
                  </a:txBody>
                  <a:tcPr>
                    <a:solidFill>
                      <a:srgbClr val="1C254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EF8"/>
                          </a:solidFill>
                          <a:latin typeface="Calibri"/>
                        </a:rPr>
                        <a:t>/health exposed DB user, service and variable names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EF8"/>
                          </a:solidFill>
                          <a:latin typeface="Calibri"/>
                        </a:rPr>
                        <a:t>status-only response; detail in server log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EF8"/>
                          </a:solidFill>
                          <a:latin typeface="Calibri"/>
                        </a:rPr>
                        <a:t>Oracle Decimal ids in the session cookie bypassed 'cannot delete yourself'</a:t>
                      </a:r>
                    </a:p>
                  </a:txBody>
                  <a:tcPr>
                    <a:solidFill>
                      <a:srgbClr val="1C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EF8"/>
                          </a:solidFill>
                          <a:latin typeface="Calibri"/>
                        </a:rPr>
                        <a:t>int casts + regression tests</a:t>
                      </a:r>
                    </a:p>
                  </a:txBody>
                  <a:tcPr>
                    <a:solidFill>
                      <a:srgbClr val="1C254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EF8"/>
                          </a:solidFill>
                          <a:latin typeface="Calibri"/>
                        </a:rPr>
                        <a:t>Flask 31-day default session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EF8"/>
                          </a:solidFill>
                          <a:latin typeface="Calibri"/>
                        </a:rPr>
                        <a:t>8-hour lifetime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30352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9AA7C7"/>
                </a:solidFill>
                <a:latin typeface="Calibri"/>
              </a:rPr>
              <a:t>Also: bind variables only, CSRF on every POST, escaped output, CSP, least-privilege DB user, hashed passwords.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E8EEF8"/>
                </a:solidFill>
                <a:latin typeface="Calibri"/>
              </a:rPr>
              <a:t>Testing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96112"/>
            <a:ext cx="1005840" cy="45720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AA7C7"/>
                </a:solidFill>
                <a:latin typeface="Calibri"/>
              </a:rPr>
              <a:t>Offline suite run by the authoring environment · live suite run by the student on Oracle 21c XE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9AA7C7"/>
                </a:solidFill>
                <a:latin typeface="Calibri"/>
              </a:rPr>
              <a:t>Electronic Appliance Store Management System · DBMS Review 3 · Sanjiv Shine Fernandas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9AA7C7"/>
                </a:solidFill>
                <a:latin typeface="Calibri"/>
              </a:rPr>
              <a:t>9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15875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35661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5000" b="1">
                <a:solidFill>
                  <a:srgbClr val="00E676"/>
                </a:solidFill>
                <a:latin typeface="Calibri"/>
              </a:rPr>
              <a:t>159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40280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E8EEF8"/>
                </a:solidFill>
                <a:latin typeface="Calibri"/>
              </a:rPr>
              <a:t>PASSED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41732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15875">
            <a:solidFill>
              <a:srgbClr val="FF5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79" y="1463040"/>
            <a:ext cx="35661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5000" b="1">
                <a:solidFill>
                  <a:srgbClr val="FF5252"/>
                </a:solidFill>
                <a:latin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79" y="2240280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E8EEF8"/>
                </a:solidFill>
                <a:latin typeface="Calibri"/>
              </a:rPr>
              <a:t>FAILED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41732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15875">
            <a:solidFill>
              <a:srgbClr val="9AA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9" y="1463040"/>
            <a:ext cx="35661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5000" b="1">
                <a:solidFill>
                  <a:srgbClr val="9AA7C7"/>
                </a:solidFill>
                <a:latin typeface="Calibr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2240280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E8EEF8"/>
                </a:solidFill>
                <a:latin typeface="Calibri"/>
              </a:rPr>
              <a:t>NOT RUN / BLOCKED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48640" y="3017520"/>
          <a:ext cx="11109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5120640"/>
                <a:gridCol w="2880360"/>
              </a:tblGrid>
              <a:tr h="381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1020"/>
                          </a:solidFill>
                          <a:latin typeface="Calibri"/>
                        </a:rPr>
                        <a:t>Suite</a:t>
                      </a:r>
                    </a:p>
                  </a:txBody>
                  <a:tcPr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1020"/>
                          </a:solidFill>
                          <a:latin typeface="Calibri"/>
                        </a:rPr>
                        <a:t>Scope</a:t>
                      </a:r>
                    </a:p>
                  </a:txBody>
                  <a:tcPr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1020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>
                    <a:solidFill>
                      <a:srgbClr val="00E5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EF8"/>
                          </a:solidFill>
                          <a:latin typeface="Calibri"/>
                        </a:rPr>
                        <a:t>test_config.py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EF8"/>
                          </a:solidFill>
                          <a:latin typeface="Calibri"/>
                        </a:rPr>
                        <a:t>Configuration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EF8"/>
                          </a:solidFill>
                          <a:latin typeface="Calibri"/>
                        </a:rPr>
                        <a:t>12 PASSED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EF8"/>
                          </a:solidFill>
                          <a:latin typeface="Calibri"/>
                        </a:rPr>
                        <a:t>test_services.py</a:t>
                      </a:r>
                    </a:p>
                  </a:txBody>
                  <a:tcPr>
                    <a:solidFill>
                      <a:srgbClr val="1C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EF8"/>
                          </a:solidFill>
                          <a:latin typeface="Calibri"/>
                        </a:rPr>
                        <a:t>Validation, CRUD, sale transaction (fake DB)</a:t>
                      </a:r>
                    </a:p>
                  </a:txBody>
                  <a:tcPr>
                    <a:solidFill>
                      <a:srgbClr val="1C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EF8"/>
                          </a:solidFill>
                          <a:latin typeface="Calibri"/>
                        </a:rPr>
                        <a:t>45 PASSED</a:t>
                      </a:r>
                    </a:p>
                  </a:txBody>
                  <a:tcPr>
                    <a:solidFill>
                      <a:srgbClr val="1C254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EF8"/>
                          </a:solidFill>
                          <a:latin typeface="Calibri"/>
                        </a:rPr>
                        <a:t>test_routes.py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EF8"/>
                          </a:solidFill>
                          <a:latin typeface="Calibri"/>
                        </a:rPr>
                        <a:t>Routes, CSRF, errors, health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EF8"/>
                          </a:solidFill>
                          <a:latin typeface="Calibri"/>
                        </a:rPr>
                        <a:t>19 PASSED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EF8"/>
                          </a:solidFill>
                          <a:latin typeface="Calibri"/>
                        </a:rPr>
                        <a:t>test_auth.py</a:t>
                      </a:r>
                    </a:p>
                  </a:txBody>
                  <a:tcPr>
                    <a:solidFill>
                      <a:srgbClr val="1C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EF8"/>
                          </a:solidFill>
                          <a:latin typeface="Calibri"/>
                        </a:rPr>
                        <a:t>Sign-in, roles, throttle, redirects, hashing</a:t>
                      </a:r>
                    </a:p>
                  </a:txBody>
                  <a:tcPr>
                    <a:solidFill>
                      <a:srgbClr val="1C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EF8"/>
                          </a:solidFill>
                          <a:latin typeface="Calibri"/>
                        </a:rPr>
                        <a:t>64 PASSED</a:t>
                      </a:r>
                    </a:p>
                  </a:txBody>
                  <a:tcPr>
                    <a:solidFill>
                      <a:srgbClr val="1C254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EF8"/>
                          </a:solidFill>
                          <a:latin typeface="Calibri"/>
                        </a:rPr>
                        <a:t>test_oracle_integration.py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EF8"/>
                          </a:solidFill>
                          <a:latin typeface="Calibri"/>
                        </a:rPr>
                        <a:t>Live Oracle (student run, 2026-10-22)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EF8"/>
                          </a:solidFill>
                          <a:latin typeface="Calibri"/>
                        </a:rPr>
                        <a:t>19 PASSED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FFB300"/>
                </a:solidFill>
                <a:latin typeface="Calibri"/>
              </a:rPr>
              <a:t>Live results were transcribed from the student's console output. First live run: 18/19 — the one failure was a mistake in the test, fixed, then 19/19.</a:t>
            </a:r>
          </a:p>
          <a:p>
            <a:pPr algn="l"/>
            <a:r>
              <a:rPr sz="1300" b="0">
                <a:solidFill>
                  <a:srgbClr val="FFB300"/>
                </a:solidFill>
                <a:latin typeface="Calibri"/>
              </a:rPr>
              <a:t>All 16 queries also ran live without error.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E8EEF8"/>
                </a:solidFill>
                <a:latin typeface="Calibri"/>
              </a:rPr>
              <a:t>Deployment and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96112"/>
            <a:ext cx="1005840" cy="45720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9AA7C7"/>
                </a:solidFill>
                <a:latin typeface="Calibri"/>
              </a:rPr>
              <a:t>Electronic Appliance Store Management System · DBMS Review 3 · Sanjiv Shine Fernandas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9AA7C7"/>
                </a:solidFill>
                <a:latin typeface="Calibri"/>
              </a:rPr>
              <a:t>10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00E5FF"/>
                </a:solidFill>
                <a:latin typeface="Calibri"/>
              </a:rPr>
              <a:t>▪ </a:t>
            </a:r>
            <a:r>
              <a:rPr sz="1600">
                <a:solidFill>
                  <a:srgbClr val="E8EEF8"/>
                </a:solidFill>
                <a:latin typeface="Calibri"/>
              </a:rPr>
              <a:t>python serve.py (waitress, 8 threads) on 127.0.0.1:8000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E5FF"/>
                </a:solidFill>
                <a:latin typeface="Calibri"/>
              </a:rPr>
              <a:t>▪ </a:t>
            </a:r>
            <a:r>
              <a:rPr sz="1600">
                <a:solidFill>
                  <a:srgbClr val="E8EEF8"/>
                </a:solidFill>
                <a:latin typeface="Calibri"/>
              </a:rPr>
              <a:t>HTTPS via a reverse proxy; APP_ENV=production turns on Secure cookies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E5FF"/>
                </a:solidFill>
                <a:latin typeface="Calibri"/>
              </a:rPr>
              <a:t>▪ </a:t>
            </a:r>
            <a:r>
              <a:rPr sz="1600">
                <a:solidFill>
                  <a:srgbClr val="E8EEF8"/>
                </a:solidFill>
                <a:latin typeface="Calibri"/>
              </a:rPr>
              <a:t>Start at boot with Task Scheduler or NSSM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E5FF"/>
                </a:solidFill>
                <a:latin typeface="Calibri"/>
              </a:rPr>
              <a:t>▪ </a:t>
            </a:r>
            <a:r>
              <a:rPr sz="1600">
                <a:solidFill>
                  <a:srgbClr val="E8EEF8"/>
                </a:solidFill>
                <a:latin typeface="Calibri"/>
              </a:rPr>
              <a:t>Backups with expdp / RMAN; password rotation steps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E5FF"/>
                </a:solidFill>
                <a:latin typeface="Calibri"/>
              </a:rPr>
              <a:t>▪ </a:t>
            </a:r>
            <a:r>
              <a:rPr sz="1600">
                <a:solidFill>
                  <a:srgbClr val="E8EEF8"/>
                </a:solidFill>
                <a:latin typeface="Calibri"/>
              </a:rPr>
              <a:t>docs/deployment.md has the full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28016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00E5FF"/>
                </a:solidFill>
                <a:latin typeface="Calibri"/>
              </a:rPr>
              <a:t>▪ </a:t>
            </a:r>
            <a:r>
              <a:rPr sz="1600">
                <a:solidFill>
                  <a:srgbClr val="E8EEF8"/>
                </a:solidFill>
                <a:latin typeface="Calibri"/>
              </a:rPr>
              <a:t>Login throttle is in-process: memory grows, not proxy-aware, resets on restart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E5FF"/>
                </a:solidFill>
                <a:latin typeface="Calibri"/>
              </a:rPr>
              <a:t>▪ </a:t>
            </a:r>
            <a:r>
              <a:rPr sz="1600">
                <a:solidFill>
                  <a:srgbClr val="E8EEF8"/>
                </a:solidFill>
                <a:latin typeface="Calibri"/>
              </a:rPr>
              <a:t>No password-reset e-mail or MFA; managers reset passwords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E5FF"/>
                </a:solidFill>
                <a:latin typeface="Calibri"/>
              </a:rPr>
              <a:t>▪ </a:t>
            </a:r>
            <a:r>
              <a:rPr sz="1600">
                <a:solidFill>
                  <a:srgbClr val="E8EEF8"/>
                </a:solidFill>
                <a:latin typeface="Calibri"/>
              </a:rPr>
              <a:t>Role changes apply at next sign-in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E5FF"/>
                </a:solidFill>
                <a:latin typeface="Calibri"/>
              </a:rPr>
              <a:t>▪ </a:t>
            </a:r>
            <a:r>
              <a:rPr sz="1600">
                <a:solidFill>
                  <a:srgbClr val="E8EEF8"/>
                </a:solidFill>
                <a:latin typeface="Calibri"/>
              </a:rPr>
              <a:t>HTTPS deployment and a recorded browser walkthrough not yet done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E5FF"/>
                </a:solidFill>
                <a:latin typeface="Calibri"/>
              </a:rPr>
              <a:t>▪ </a:t>
            </a:r>
            <a:r>
              <a:rPr sz="1600">
                <a:solidFill>
                  <a:srgbClr val="E8EEF8"/>
                </a:solidFill>
                <a:latin typeface="Calibri"/>
              </a:rPr>
              <a:t>Trigger test-cleanup bypass should be removed for production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E8EEF8"/>
                </a:solidFill>
                <a:latin typeface="Calibri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96112"/>
            <a:ext cx="1005840" cy="45720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9AA7C7"/>
                </a:solidFill>
                <a:latin typeface="Calibri"/>
              </a:rPr>
              <a:t>Electronic Appliance Store Management System · DBMS Review 3 · Sanjiv Shine Fernandas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9AA7C7"/>
                </a:solidFill>
                <a:latin typeface="Calibri"/>
              </a:rPr>
              <a:t>11 /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1109960" cy="731520"/>
          </a:xfrm>
          <a:prstGeom prst="roundRect">
            <a:avLst>
              <a:gd name="adj" fmla="val 10000"/>
            </a:avLst>
          </a:prstGeom>
          <a:solidFill>
            <a:srgbClr val="141B33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0E676"/>
                </a:solidFill>
                <a:latin typeface="Calibri"/>
              </a:rPr>
              <a:t>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444752"/>
            <a:ext cx="97840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E8EEF8"/>
                </a:solidFill>
                <a:latin typeface="Calibri"/>
              </a:rPr>
              <a:t>Login, Manager/Cashier roles, default-deny gate, employee and account management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40280"/>
            <a:ext cx="11109960" cy="731520"/>
          </a:xfrm>
          <a:prstGeom prst="roundRect">
            <a:avLst>
              <a:gd name="adj" fmla="val 10000"/>
            </a:avLst>
          </a:prstGeom>
          <a:solidFill>
            <a:srgbClr val="141B33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13432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0E676"/>
                </a:solidFill>
                <a:latin typeface="Calibri"/>
              </a:rPr>
              <a:t>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313432"/>
            <a:ext cx="97840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E8EEF8"/>
                </a:solidFill>
                <a:latin typeface="Calibri"/>
              </a:rPr>
              <a:t>Hardening fixes with regression tests; Decimal-id bug fixed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08960"/>
            <a:ext cx="11109960" cy="731520"/>
          </a:xfrm>
          <a:prstGeom prst="roundRect">
            <a:avLst>
              <a:gd name="adj" fmla="val 10000"/>
            </a:avLst>
          </a:prstGeom>
          <a:solidFill>
            <a:srgbClr val="141B33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182112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0E676"/>
                </a:solidFill>
                <a:latin typeface="Calibri"/>
              </a:rPr>
              <a:t>DONE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182112"/>
            <a:ext cx="97840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E8EEF8"/>
                </a:solidFill>
                <a:latin typeface="Calibri"/>
              </a:rPr>
              <a:t>159 tests PASSED (140 offline + 19 live on Oracle 21c XE); 16 queries ran live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77639"/>
            <a:ext cx="11109960" cy="731520"/>
          </a:xfrm>
          <a:prstGeom prst="roundRect">
            <a:avLst>
              <a:gd name="adj" fmla="val 10000"/>
            </a:avLst>
          </a:prstGeom>
          <a:solidFill>
            <a:srgbClr val="141B33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050791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0E676"/>
                </a:solidFill>
                <a:latin typeface="Calibri"/>
              </a:rPr>
              <a:t>DONE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050791"/>
            <a:ext cx="97840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E8EEF8"/>
                </a:solidFill>
                <a:latin typeface="Calibri"/>
              </a:rPr>
              <a:t>README, deployment guide, demo guide, Review 2 and Review 3 reports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46320"/>
            <a:ext cx="11109960" cy="731520"/>
          </a:xfrm>
          <a:prstGeom prst="roundRect">
            <a:avLst>
              <a:gd name="adj" fmla="val 10000"/>
            </a:avLst>
          </a:prstGeom>
          <a:solidFill>
            <a:srgbClr val="141B33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919472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FB300"/>
                </a:solidFill>
                <a:latin typeface="Calibri"/>
              </a:rPr>
              <a:t>TO 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4919472"/>
            <a:ext cx="97840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E8EEF8"/>
                </a:solidFill>
                <a:latin typeface="Calibri"/>
              </a:rPr>
              <a:t>Throttle redesign, HTTPS deployment, recorded role walkthrough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