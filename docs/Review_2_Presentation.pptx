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project, the student and the Review 2 scope: database implementation and backend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master-data CRUD, sales, inventory reports. Out of scope: login/roles, returns, taxes.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direction of dependency. Only services/database.py opens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tables, six one-to-many relationships. No cascade deletes, so sales history is protected. SALE_ITEMS keeps the price and quantity at sale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Deleting a customer, employee or product with history fails with ORA-02292, shown to the user as a friendly 409.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upfront: LINE_TOTAL is a derived column, a controlled trade-off. SALE_ITEMS.UNIT_PRICE is the historical price, not a copy of the current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Syntax-checked statically (sqlglot, Oracle dialect) for the queries; all 16 also executed live on Oracle 21c XE without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concurrency proof (8 buyers, stock 5 -&gt; exactly 5 succeed) PASSED on Oracle 21c 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the screenshots use stubbed service data. The real app without DB shows an honest 503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live tests ran on a separate test schema on Oracle 21c XE and prove constraints, PL/SQL objects and concurrency. Results were transcribed from the student's console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limitations openly is part of the evaluation criteria for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panel; offer to demonstrate the sale transaction and the failing constraint inserts.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75688"/>
            <a:ext cx="12191695" cy="36576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DATABASE MANAGEMENT SYSTEMS · REVIEW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E8EEF8"/>
                </a:solidFill>
                <a:latin typeface="Calibri"/>
              </a:rPr>
              <a:t>Electronic Appliance</a:t>
            </a:r>
          </a:p>
          <a:p>
            <a:pPr algn="l"/>
            <a:r>
              <a:rPr sz="4800" b="1">
                <a:solidFill>
                  <a:srgbClr val="E8EEF8"/>
                </a:solidFill>
                <a:latin typeface="Calibri"/>
              </a:rPr>
              <a:t>Store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607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>
                <a:solidFill>
                  <a:srgbClr val="9AA7C7"/>
                </a:solidFill>
                <a:latin typeface="Calibri"/>
              </a:rPr>
              <a:t>Database Implementation &amp; Backend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73152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0">
                <a:solidFill>
                  <a:srgbClr val="E8EEF8"/>
                </a:solidFill>
                <a:latin typeface="Calibri"/>
              </a:rPr>
              <a:t>Sanjiv Shine Fernandas</a:t>
            </a:r>
          </a:p>
          <a:p>
            <a:pPr algn="l"/>
            <a:r>
              <a:rPr sz="2000" b="0">
                <a:solidFill>
                  <a:srgbClr val="E8EEF8"/>
                </a:solidFill>
                <a:latin typeface="Calibri"/>
              </a:rPr>
              <a:t>Subject: Database Management Systems (DBMS)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4754880"/>
            <a:ext cx="40233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00E5FF"/>
                </a:solidFill>
                <a:latin typeface="Consolas"/>
              </a:rPr>
              <a:t>Oracle Database 21c XE · XEPDB1</a:t>
            </a:r>
          </a:p>
          <a:p>
            <a:pPr algn="l"/>
            <a:r>
              <a:rPr sz="1500" b="0">
                <a:solidFill>
                  <a:srgbClr val="00E5FF"/>
                </a:solidFill>
                <a:latin typeface="Consolas"/>
              </a:rPr>
              <a:t>Flask · python-oracledb (Thin)</a:t>
            </a:r>
          </a:p>
          <a:p>
            <a:pPr algn="l"/>
            <a:r>
              <a:rPr sz="1500" b="0">
                <a:solidFill>
                  <a:srgbClr val="00E5FF"/>
                </a:solidFill>
                <a:latin typeface="Consolas"/>
              </a:rPr>
              <a:t>HTML5 · CSS3 · vanilla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AA7C7"/>
                </a:solidFill>
                <a:latin typeface="Calibri"/>
              </a:rPr>
              <a:t>github.com/sanjiv283/Electronic_Appliance_Store_Manager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Appliance retail: high-value items, changing prices, limited stock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Spreadsheets cause oversold items and lost price history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Customer, supplier and product data get duplicated and inconsistent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Concurrent cashiers can sell the same last unit twice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Managers need quick answers: revenue, best sellers, low stock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Normalized (3NF) Oracle schema with full integrity constraints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Fictional seed data; 16 documented SQL queries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View, procedure, function and trigger in PL/SQL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Secure Flask ↔ Oracle connectivity (Thin mode, least-privilege user)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CRUD + an atomic, lock-ordered sales transaction</a:t>
            </a:r>
          </a:p>
          <a:p>
            <a:pPr>
              <a:spcAft>
                <a:spcPts val="900"/>
              </a:spcAft>
            </a:pPr>
            <a:r>
              <a:rPr sz="1800">
                <a:solidFill>
                  <a:srgbClr val="00E5FF"/>
                </a:solidFill>
                <a:latin typeface="Calibri"/>
              </a:rPr>
              <a:t>▪ </a:t>
            </a:r>
            <a:r>
              <a:rPr sz="1800">
                <a:solidFill>
                  <a:srgbClr val="E8EEF8"/>
                </a:solidFill>
                <a:latin typeface="Calibri"/>
              </a:rPr>
              <a:t>Automated tests with honest PASSED / BLOCKED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Routes call services; services own all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3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Calibri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36776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HTML5 · CSS3 · vanilla JS · Jinja2 CRUD forms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977639" y="2039112"/>
            <a:ext cx="274320" cy="219456"/>
          </a:xfrm>
          <a:prstGeom prst="down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258568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Calibri"/>
              </a:rPr>
              <a:t>Flask routes — 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60904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routes for CRUD, sales and health · safe error pages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977639" y="3063240"/>
            <a:ext cx="274320" cy="219456"/>
          </a:xfrm>
          <a:prstGeom prst="down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282696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28416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Calibri"/>
              </a:rPr>
              <a:t>Service layer — services/*.py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2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validation · CRUD · sales transaction — bind variables only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977639" y="4087368"/>
            <a:ext cx="274320" cy="219456"/>
          </a:xfrm>
          <a:prstGeom prst="down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306824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52544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Calibri"/>
              </a:rPr>
              <a:t>services/database.py + python-oracledb (Thin)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connections · Oracle-error translation · config.py reads .env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977639" y="5111496"/>
            <a:ext cx="274320" cy="219456"/>
          </a:xfrm>
          <a:prstGeom prst="down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330952"/>
            <a:ext cx="6949440" cy="804672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76672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E8EEF8"/>
                </a:solidFill>
                <a:latin typeface="Calibri"/>
              </a:rPr>
              <a:t>Oracle 21c XE — XEPDB1 · schema appliance_app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33288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7 tables · view · procedure · function · trigger · sequence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1234440"/>
            <a:ext cx="3703320" cy="5029200"/>
          </a:xfrm>
          <a:prstGeom prst="roundRect">
            <a:avLst>
              <a:gd name="adj" fmla="val 6000"/>
            </a:avLst>
          </a:prstGeom>
          <a:solidFill>
            <a:srgbClr val="1C2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325880"/>
            <a:ext cx="33832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TECHNOLOGY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7830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Python · Flask · python-dotenv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python-oracledb, Thin mode (no Oracle Client)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Oracle Database 21c XE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pytest + fake DB connection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Windows local demonstration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Connects only as appliance_app — never SYS/SYSTEM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Entity-relationship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Key columns shown · full column list in report §11 · matches database/schema.sql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4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743200" cy="992124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084831"/>
            <a:ext cx="2560320" cy="6263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CATEGORY_ID</a:t>
            </a:r>
          </a:p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UK CATEGORY_NAME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7448" y="1280160"/>
            <a:ext cx="2743200" cy="1385316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27448" y="1280160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1289304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627631"/>
            <a:ext cx="2560320" cy="10195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PRODUCT_ID</a:t>
            </a:r>
          </a:p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UK MODEL_NO</a:t>
            </a:r>
          </a:p>
          <a:p>
            <a:pPr algn="l"/>
            <a:r>
              <a:rPr sz="1150" b="1">
                <a:solidFill>
                  <a:srgbClr val="FF2E93"/>
                </a:solidFill>
                <a:latin typeface="Consolas"/>
              </a:rPr>
              <a:t>FK CATEGORY_ID</a:t>
            </a:r>
          </a:p>
          <a:p>
            <a:pPr algn="l"/>
            <a:r>
              <a:rPr sz="1150" b="1">
                <a:solidFill>
                  <a:srgbClr val="FF2E93"/>
                </a:solidFill>
                <a:latin typeface="Consolas"/>
              </a:rPr>
              <a:t>FK SUPPLIER_ID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UNIT_PRICE · STOCK_QTY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05672" y="1737360"/>
            <a:ext cx="2743200" cy="992124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05672" y="1737360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1746504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SUPPLIERS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084831"/>
            <a:ext cx="2560320" cy="6263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SUPPLIER_ID</a:t>
            </a:r>
          </a:p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UK SUPPLIER_NAME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CONTACT · EMAIL · 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27448" y="3246120"/>
            <a:ext cx="2743200" cy="1385316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7448" y="3246120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255263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SALE_ITEMS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3593591"/>
            <a:ext cx="2560320" cy="10195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SALE_ITEM_ID</a:t>
            </a:r>
          </a:p>
          <a:p>
            <a:pPr algn="l"/>
            <a:r>
              <a:rPr sz="1150" b="1">
                <a:solidFill>
                  <a:srgbClr val="FF2E93"/>
                </a:solidFill>
                <a:latin typeface="Consolas"/>
              </a:rPr>
              <a:t>FK SALE_ID</a:t>
            </a:r>
          </a:p>
          <a:p>
            <a:pPr algn="l"/>
            <a:r>
              <a:rPr sz="1150" b="1">
                <a:solidFill>
                  <a:srgbClr val="FF2E93"/>
                </a:solidFill>
                <a:latin typeface="Consolas"/>
              </a:rPr>
              <a:t>FK PRODUCT_ID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QUANTITY · UNIT_PRICE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LINE_TOTAL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257800"/>
            <a:ext cx="2743200" cy="992124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57800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66944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CUSTOMERS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5605272"/>
            <a:ext cx="2560320" cy="6263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CUSTOMER_ID</a:t>
            </a:r>
          </a:p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UK EMAIL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FULL_NAME · PHONE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27448" y="5184648"/>
            <a:ext cx="2743200" cy="1188720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27448" y="5184648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5193792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SALES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553212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SALE_ID · UK INVOICE_NO</a:t>
            </a:r>
          </a:p>
          <a:p>
            <a:pPr algn="l"/>
            <a:r>
              <a:rPr sz="1150" b="1">
                <a:solidFill>
                  <a:srgbClr val="FF2E93"/>
                </a:solidFill>
                <a:latin typeface="Consolas"/>
              </a:rPr>
              <a:t>FK CUSTOMER_ID</a:t>
            </a:r>
          </a:p>
          <a:p>
            <a:pPr algn="l"/>
            <a:r>
              <a:rPr sz="1150" b="1">
                <a:solidFill>
                  <a:srgbClr val="FF2E93"/>
                </a:solidFill>
                <a:latin typeface="Consolas"/>
              </a:rPr>
              <a:t>FK EMPLOYEE_ID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SALE_DATE · TOTAL_AMOUNT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05672" y="5257800"/>
            <a:ext cx="2743200" cy="992124"/>
          </a:xfrm>
          <a:prstGeom prst="roundRect">
            <a:avLst>
              <a:gd name="adj" fmla="val 4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05672" y="5257800"/>
            <a:ext cx="2743200" cy="31089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5266944"/>
            <a:ext cx="274320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0B1020"/>
                </a:solidFill>
                <a:latin typeface="Calibri"/>
              </a:rPr>
              <a:t>EMPLOYEES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5605272"/>
            <a:ext cx="2560320" cy="62636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PK EMPLOYEE_ID</a:t>
            </a:r>
          </a:p>
          <a:p>
            <a:pPr algn="l"/>
            <a:r>
              <a:rPr sz="1150" b="1">
                <a:solidFill>
                  <a:srgbClr val="00E5FF"/>
                </a:solidFill>
                <a:latin typeface="Consolas"/>
              </a:rPr>
              <a:t>UK EMAIL</a:t>
            </a:r>
          </a:p>
          <a:p>
            <a:pPr algn="l"/>
            <a:r>
              <a:rPr sz="1150" b="0">
                <a:solidFill>
                  <a:srgbClr val="E8EEF8"/>
                </a:solidFill>
                <a:latin typeface="Consolas"/>
              </a:rPr>
              <a:t>   FULL_NAME · JOB_TITLE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3383280" y="1972817"/>
            <a:ext cx="1344168" cy="260605"/>
          </a:xfrm>
          <a:prstGeom prst="line">
            <a:avLst/>
          </a:prstGeom>
          <a:ln w="28575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456432" y="1959102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9976" y="1698497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52444" y="1828799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9AA7C7"/>
                </a:solidFill>
                <a:latin typeface="Calibri"/>
              </a:rPr>
              <a:t>classifies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7470648" y="1972817"/>
            <a:ext cx="1335024" cy="260605"/>
          </a:xfrm>
          <a:prstGeom prst="line">
            <a:avLst/>
          </a:prstGeom>
          <a:ln w="28575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458200" y="1959102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1698497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1828799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9AA7C7"/>
                </a:solidFill>
                <a:latin typeface="Calibri"/>
              </a:rPr>
              <a:t>supplies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99048" y="2665476"/>
            <a:ext cx="0" cy="580644"/>
          </a:xfrm>
          <a:prstGeom prst="line">
            <a:avLst/>
          </a:prstGeom>
          <a:ln w="28575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715000" y="2683764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2971800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2818638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7C7"/>
                </a:solidFill>
                <a:latin typeface="Calibri"/>
              </a:rPr>
              <a:t>appears in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6099048" y="4631436"/>
            <a:ext cx="0" cy="553212"/>
          </a:xfrm>
          <a:prstGeom prst="line">
            <a:avLst/>
          </a:prstGeom>
          <a:ln w="28575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15000" y="4910328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4649723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08776" y="4770881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9AA7C7"/>
                </a:solidFill>
                <a:latin typeface="Calibri"/>
              </a:rPr>
              <a:t>contains (1..N)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383280" y="5753862"/>
            <a:ext cx="1344168" cy="25146"/>
          </a:xfrm>
          <a:prstGeom prst="line">
            <a:avLst/>
          </a:prstGeom>
          <a:ln w="28575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456432" y="5479542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9976" y="5504688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52444" y="5492115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9AA7C7"/>
                </a:solidFill>
                <a:latin typeface="Calibri"/>
              </a:rPr>
              <a:t>places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7470648" y="5753862"/>
            <a:ext cx="1335024" cy="25146"/>
          </a:xfrm>
          <a:prstGeom prst="line">
            <a:avLst/>
          </a:prstGeom>
          <a:ln w="28575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458200" y="5479542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E8EEF8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5504688"/>
            <a:ext cx="320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5492115"/>
            <a:ext cx="10058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9AA7C7"/>
                </a:solidFill>
                <a:latin typeface="Calibri"/>
              </a:rPr>
              <a:t>processes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Database schema &amp;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Identity primary keys · all foreign keys are restrict (no cascade)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5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1099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2926080"/>
                <a:gridCol w="4617720"/>
              </a:tblGrid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Foreign keys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Unique / CHECK highlights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CATEGORIES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CATEGORY_ID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category name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SUPPLIERS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SUPPLIER_ID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supplier name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PRODUCT_ID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CATEGORY_ID, SUPPLIER_ID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model no · price ≥ 0 · stock ≥ 0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CUSTOMER_ID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e-mail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EMPLOYEES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EMPLOYEE_ID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e-mail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SALES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SALE_ID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CUSTOMER_ID, EMPLOYEE_ID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invoice no · payment ∈ {CASH, CARD, UPI, BANK_TRANSFER} · total &gt; 0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8EEF8"/>
                          </a:solidFill>
                          <a:latin typeface="Calibri"/>
                        </a:rPr>
                        <a:t>SALE_ITEMS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SALE_ITEM_ID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SALE_ID, PRODUCT_ID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UQ (sale, product) · qty &gt; 0 · line total = qty × price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Relationships: category→products, supplier→products, customer→sales, employee→sales, sale→items, product→items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7 tables · 6 indexes on FK/report columns · sequence SEQ_INVOICE_NO · sample data: 14 products, 8 sales, 15 sale items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Normalization: 1NF → 3NF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00E5FF"/>
                </a:solidFill>
                <a:latin typeface="Calibri"/>
              </a:rPr>
              <a:t>1NF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Atomic columns, a key in every 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No repeating groups: many products per sale = rows in SALE_ITEMS, not PRODUCT1, PRODUCT2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28016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7160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FF2E93"/>
                </a:solidFill>
                <a:latin typeface="Calibri"/>
              </a:rPr>
              <a:t>2NF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1168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Single-column surrogate keys: no partial dependency possible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SALE_ITEMS (SALE_ID, PRODUCT_ID): qty and price depend on both; product name is NOT copied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280160"/>
            <a:ext cx="3611880" cy="33832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371600"/>
            <a:ext cx="3200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00E676"/>
                </a:solidFill>
                <a:latin typeface="Calibri"/>
              </a:rPr>
              <a:t>3NF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01168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Non-key attributes depend only on the key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PRODUCTS stores category/supplier as FKs, not names; SALES stores no customer or employee names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46320"/>
            <a:ext cx="11109960" cy="1508760"/>
          </a:xfrm>
          <a:prstGeom prst="roundRect">
            <a:avLst>
              <a:gd name="adj" fmla="val 6000"/>
            </a:avLst>
          </a:prstGeom>
          <a:solidFill>
            <a:srgbClr val="1C2547"/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FB300"/>
                </a:solidFill>
                <a:latin typeface="Calibri"/>
              </a:rPr>
              <a:t>DOCUMENTED, DELIBERATE REDUNDANCY (not hidden)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50">
                <a:solidFill>
                  <a:srgbClr val="00E5FF"/>
                </a:solidFill>
                <a:latin typeface="Calibri"/>
              </a:rPr>
              <a:t>▪ </a:t>
            </a:r>
            <a:r>
              <a:rPr sz="1350">
                <a:solidFill>
                  <a:srgbClr val="E8EEF8"/>
                </a:solidFill>
                <a:latin typeface="Calibri"/>
              </a:rPr>
              <a:t>SALE_ITEMS.LINE_TOTAL = QUANTITY × UNIT_PRICE is derived, so strictly SALE_ITEMS is not 3NF — kept for audit/reporting and guarded by a CHECK constraint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00E5FF"/>
                </a:solidFill>
                <a:latin typeface="Calibri"/>
              </a:rPr>
              <a:t>▪ </a:t>
            </a:r>
            <a:r>
              <a:rPr sz="1350">
                <a:solidFill>
                  <a:srgbClr val="E8EEF8"/>
                </a:solidFill>
                <a:latin typeface="Calibri"/>
              </a:rPr>
              <a:t>SALES.TOTAL_AMOUNT = sum of lines: computed once by the service; view V_SALES_SUMMARY exposes mismatches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SQL queries &amp; advanced database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16 numbered queries in queries.sql · 4 objects in advanced_features.sql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7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577840" cy="50749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9844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16 QUERIES —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00E5FF"/>
                </a:solidFill>
                <a:latin typeface="Calibri"/>
              </a:rPr>
              <a:t>▪ </a:t>
            </a:r>
            <a:r>
              <a:rPr sz="1400">
                <a:solidFill>
                  <a:srgbClr val="E8EEF8"/>
                </a:solidFill>
                <a:latin typeface="Calibri"/>
              </a:rPr>
              <a:t>Filtering, IN-subquery, INNER / LEFT JOIN (Q1–Q6)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00E5FF"/>
                </a:solidFill>
                <a:latin typeface="Calibri"/>
              </a:rPr>
              <a:t>▪ </a:t>
            </a:r>
            <a:r>
              <a:rPr sz="1400">
                <a:solidFill>
                  <a:srgbClr val="E8EEF8"/>
                </a:solidFill>
                <a:latin typeface="Calibri"/>
              </a:rPr>
              <a:t>5-table join over an invoice (Q7)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00E5FF"/>
                </a:solidFill>
                <a:latin typeface="Calibri"/>
              </a:rPr>
              <a:t>▪ </a:t>
            </a:r>
            <a:r>
              <a:rPr sz="1400">
                <a:solidFill>
                  <a:srgbClr val="E8EEF8"/>
                </a:solidFill>
                <a:latin typeface="Calibri"/>
              </a:rPr>
              <a:t>GROUP BY, SUM/COUNT/AVG, HAVING (Q8–Q10)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00E5FF"/>
                </a:solidFill>
                <a:latin typeface="Calibri"/>
              </a:rPr>
              <a:t>▪ </a:t>
            </a:r>
            <a:r>
              <a:rPr sz="1400">
                <a:solidFill>
                  <a:srgbClr val="E8EEF8"/>
                </a:solidFill>
                <a:latin typeface="Calibri"/>
              </a:rPr>
              <a:t>Scalar &amp; correlated subqueries (Q11–Q12)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00E5FF"/>
                </a:solidFill>
                <a:latin typeface="Calibri"/>
              </a:rPr>
              <a:t>▪ </a:t>
            </a:r>
            <a:r>
              <a:rPr sz="1400">
                <a:solidFill>
                  <a:srgbClr val="E8EEF8"/>
                </a:solidFill>
                <a:latin typeface="Calibri"/>
              </a:rPr>
              <a:t>NOT EXISTS, FETCH FIRST, RANK(), CASE (Q13–Q16)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212080" cy="2011680"/>
          </a:xfrm>
          <a:prstGeom prst="roundRect">
            <a:avLst>
              <a:gd name="adj" fmla="val 3000"/>
            </a:avLst>
          </a:prstGeom>
          <a:solidFill>
            <a:srgbClr val="0B1020"/>
          </a:solidFill>
          <a:ln w="9525">
            <a:solidFill>
              <a:srgbClr val="9A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502920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00E676"/>
                </a:solidFill>
                <a:latin typeface="Consolas"/>
              </a:rPr>
              <a:t>-- Query 12: above own-category average</a:t>
            </a:r>
          </a:p>
          <a:p>
            <a:pPr algn="l"/>
            <a:r>
              <a:rPr sz="1300" b="0">
                <a:solidFill>
                  <a:srgbClr val="00E676"/>
                </a:solidFill>
                <a:latin typeface="Consolas"/>
              </a:rPr>
              <a:t>SELECT p.PRODUCT_NAME, p.UNIT_PRICE</a:t>
            </a:r>
          </a:p>
          <a:p>
            <a:pPr algn="l"/>
            <a:r>
              <a:rPr sz="1300" b="0">
                <a:solidFill>
                  <a:srgbClr val="00E676"/>
                </a:solidFill>
                <a:latin typeface="Consolas"/>
              </a:rPr>
              <a:t>  FROM PRODUCTS p</a:t>
            </a:r>
          </a:p>
          <a:p>
            <a:pPr algn="l"/>
            <a:r>
              <a:rPr sz="1300" b="0">
                <a:solidFill>
                  <a:srgbClr val="00E676"/>
                </a:solidFill>
                <a:latin typeface="Consolas"/>
              </a:rPr>
              <a:t> WHERE p.UNIT_PRICE &gt;</a:t>
            </a:r>
          </a:p>
          <a:p>
            <a:pPr algn="l"/>
            <a:r>
              <a:rPr sz="1300" b="0">
                <a:solidFill>
                  <a:srgbClr val="00E676"/>
                </a:solidFill>
                <a:latin typeface="Consolas"/>
              </a:rPr>
              <a:t>   (SELECT AVG(p2.UNIT_PRICE) FROM PRODUCTS p2</a:t>
            </a:r>
          </a:p>
          <a:p>
            <a:pPr algn="l"/>
            <a:r>
              <a:rPr sz="1300" b="0">
                <a:solidFill>
                  <a:srgbClr val="00E676"/>
                </a:solidFill>
                <a:latin typeface="Consolas"/>
              </a:rPr>
              <a:t>     WHERE p2.CATEGORY_ID = p.CATEGORY_ID);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5303520" cy="50749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298448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PL/SQL OBJECTS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737360"/>
            <a:ext cx="4937760" cy="987552"/>
          </a:xfrm>
          <a:prstGeom prst="roundRect">
            <a:avLst>
              <a:gd name="adj" fmla="val 5000"/>
            </a:avLst>
          </a:prstGeom>
          <a:solidFill>
            <a:srgbClr val="1C2547"/>
          </a:solidFill>
          <a:ln w="127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73936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Consolas"/>
              </a:rPr>
              <a:t>V_SALES_SUMMARY  (view)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57984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9AA7C7"/>
                </a:solidFill>
                <a:latin typeface="Calibri"/>
              </a:rPr>
              <a:t>sale + customer + employee + line count + TOTAL_MATCHES check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852928"/>
            <a:ext cx="4937760" cy="987552"/>
          </a:xfrm>
          <a:prstGeom prst="roundRect">
            <a:avLst>
              <a:gd name="adj" fmla="val 5000"/>
            </a:avLst>
          </a:prstGeom>
          <a:solidFill>
            <a:srgbClr val="1C2547"/>
          </a:solidFill>
          <a:ln w="127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88950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Consolas"/>
              </a:rPr>
              <a:t>SP_RESTOCK_PRODUCT  (procedure)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273552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9AA7C7"/>
                </a:solidFill>
                <a:latin typeface="Calibri"/>
              </a:rPr>
              <a:t>adds stock under a row lock; ORA-20001 / 20002 errors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968496"/>
            <a:ext cx="4937760" cy="987552"/>
          </a:xfrm>
          <a:prstGeom prst="roundRect">
            <a:avLst>
              <a:gd name="adj" fmla="val 5000"/>
            </a:avLst>
          </a:prstGeom>
          <a:solidFill>
            <a:srgbClr val="1C2547"/>
          </a:solidFill>
          <a:ln w="127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005072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Consolas"/>
              </a:rPr>
              <a:t>FN_CUSTOMER_TOTAL_SPEND  (function)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389120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9AA7C7"/>
                </a:solidFill>
                <a:latin typeface="Calibri"/>
              </a:rPr>
              <a:t>lifetime spend, 0 if none; ORA-20010 unknown 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5084064"/>
            <a:ext cx="4937760" cy="987552"/>
          </a:xfrm>
          <a:prstGeom prst="roundRect">
            <a:avLst>
              <a:gd name="adj" fmla="val 5000"/>
            </a:avLst>
          </a:prstGeom>
          <a:solidFill>
            <a:srgbClr val="1C2547"/>
          </a:solidFill>
          <a:ln w="12700">
            <a:solidFill>
              <a:srgbClr val="FF2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5120640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50" b="1">
                <a:solidFill>
                  <a:srgbClr val="E8EEF8"/>
                </a:solidFill>
                <a:latin typeface="Consolas"/>
              </a:rPr>
              <a:t>TRG_SALES_PROTECT_HISTORY  (trigger)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504688"/>
            <a:ext cx="47091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9AA7C7"/>
                </a:solidFill>
                <a:latin typeface="Calibri"/>
              </a:rPr>
              <a:t>blocks DELETE / UPDATE of posted sales (ORA-20030 / 20031); no stock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Flask backend &amp; Oracle connectivity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CONNECTIVITY &amp;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74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config.py: DB_HOST / PORT / SERVICE_NAME / USER / PASSWORD from .env; placeholders count as missing; SYS/SYSTEM refused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python-oracledb Thin mode; connection per unit of work, always closed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Bind variables only; server-side validation; Decimal for money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ORA errors translated to safe 400 / 404 / 409 / 503 messages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/health and python -m services.database report success only after a real round trip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CRUD: products, categories, suppliers, customers (+ sales and restock)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50749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2E93"/>
                </a:solidFill>
                <a:latin typeface="Calibri"/>
              </a:rPr>
              <a:t>ATOMIC SALE — services/sales.py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74920" cy="3246120"/>
          </a:xfrm>
          <a:prstGeom prst="roundRect">
            <a:avLst>
              <a:gd name="adj" fmla="val 3000"/>
            </a:avLst>
          </a:prstGeom>
          <a:solidFill>
            <a:srgbClr val="0B1020"/>
          </a:solidFill>
          <a:ln w="9525">
            <a:solidFill>
              <a:srgbClr val="9A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937760" cy="3108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1  validate ids, payment, items (qty 1–1000)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2  check customer &amp; employee exist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3  SELECT … FOR UPDATE WAIT 10 per product,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    in ascending product id (no deadlock)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4  re-check stock after ALL locks held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5  total = Σ DB price × qty  (never client)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6  INSERT sale + items, UPDATE stock (once)</a:t>
            </a:r>
          </a:p>
          <a:p>
            <a:pPr algn="l"/>
            <a:r>
              <a:rPr sz="1400" b="0">
                <a:solidFill>
                  <a:srgbClr val="00E676"/>
                </a:solidFill>
                <a:latin typeface="Consolas"/>
              </a:rPr>
              <a:t>7  COMMIT   — any error → ROLLBACK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50">
                <a:solidFill>
                  <a:srgbClr val="00E5FF"/>
                </a:solidFill>
                <a:latin typeface="Calibri"/>
              </a:rPr>
              <a:t>▪ </a:t>
            </a:r>
            <a:r>
              <a:rPr sz="1350">
                <a:solidFill>
                  <a:srgbClr val="E8EEF8"/>
                </a:solidFill>
                <a:latin typeface="Calibri"/>
              </a:rPr>
              <a:t>Stock is deducted only here — the trigger never touches inventory</a:t>
            </a:r>
          </a:p>
          <a:p>
            <a:pPr>
              <a:spcAft>
                <a:spcPts val="300"/>
              </a:spcAft>
            </a:pPr>
            <a:r>
              <a:rPr sz="1350">
                <a:solidFill>
                  <a:srgbClr val="00E5FF"/>
                </a:solidFill>
                <a:latin typeface="Calibri"/>
              </a:rPr>
              <a:t>▪ </a:t>
            </a:r>
            <a:r>
              <a:rPr sz="1350">
                <a:solidFill>
                  <a:srgbClr val="E8EEF8"/>
                </a:solidFill>
                <a:latin typeface="Calibri"/>
              </a:rPr>
              <a:t>Oversell protection: row locks + CHECK (STOCK_QTY ≥ 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CRUD screens &amp; sales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Real Flask routes and templates · sample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9 / 12</a:t>
            </a:r>
          </a:p>
        </p:txBody>
      </p:sp>
      <p:pic>
        <p:nvPicPr>
          <p:cNvPr id="8" name="Picture 7" descr="ui_product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3213119"/>
          </a:xfrm>
          <a:prstGeom prst="rect">
            <a:avLst/>
          </a:prstGeom>
        </p:spPr>
      </p:pic>
      <p:pic>
        <p:nvPicPr>
          <p:cNvPr id="9" name="Picture 8" descr="ui_new_s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86400" cy="32131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Products: create / edit / delete / restock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5720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9AA7C7"/>
                </a:solidFill>
                <a:latin typeface="Calibri"/>
              </a:rPr>
              <a:t>New sale — two lines, estimate only (server recalculates)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Workflow: add / edit master data → New Sale → invoice page → stock falls exactly once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00E5FF"/>
                </a:solidFill>
                <a:latin typeface="Calibri"/>
              </a:rPr>
              <a:t>▪ </a:t>
            </a:r>
            <a:r>
              <a:rPr sz="1500">
                <a:solidFill>
                  <a:srgbClr val="E8EEF8"/>
                </a:solidFill>
                <a:latin typeface="Calibri"/>
              </a:rPr>
              <a:t>Invalid input, missing references and referenced-row deletes return clear 400 / 404 / 409 messages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FFB300"/>
                </a:solidFill>
                <a:latin typeface="Calibri"/>
              </a:rPr>
              <a:t>Screenshots show the real templates and routes rendered with seed-equivalent sample data — no Oracle was available, so they are not live database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Testing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Strict statuses: PASSED · FAILED · NOT RUN · BLOCKED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10 /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00E676"/>
                </a:solidFill>
                <a:latin typeface="Calibri"/>
              </a:rP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E8EEF8"/>
                </a:solidFill>
                <a:latin typeface="Calibri"/>
              </a:rP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234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80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FFB300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1031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E8EEF8"/>
                </a:solidFill>
                <a:latin typeface="Calibri"/>
              </a:rPr>
              <a:t>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34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280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FF5252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1031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E8EEF8"/>
                </a:solidFill>
                <a:latin typeface="Calibri"/>
              </a:rPr>
              <a:t>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234440"/>
            <a:ext cx="2651760" cy="141732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9A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97696" y="1280160"/>
            <a:ext cx="2651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9AA7C7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1031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E8EEF8"/>
                </a:solidFill>
                <a:latin typeface="Calibri"/>
              </a:rPr>
              <a:t>NOT RUN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2880360"/>
          <a:ext cx="111099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120640"/>
                <a:gridCol w="288036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B102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0E5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test_config.py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Configuration rules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12 PASSED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test_services.py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Validation, CRUD, sale transaction (fake DB)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45 PASSED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test_routes.py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Routes, CSRF, errors, escaping, health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19 PASSED</a:t>
                      </a:r>
                    </a:p>
                  </a:txBody>
                  <a:tcPr>
                    <a:solidFill>
                      <a:srgbClr val="141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test_oracle_integration.py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Live Oracle (constraints, PL/SQL, locking)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8EEF8"/>
                          </a:solidFill>
                          <a:latin typeface="Calibri"/>
                        </a:rPr>
                        <a:t>16 PASSED</a:t>
                      </a:r>
                    </a:p>
                  </a:txBody>
                  <a:tcPr>
                    <a:solidFill>
                      <a:srgbClr val="1C2547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49834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92 offline tests passed using a FAKE database connection: they prove application logic, not Oracle behaviour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16 live Oracle integration tests PASSED on Oracle 21c XE (student run, 2026-10-22); all 16 queries also ran live without error</a:t>
            </a:r>
          </a:p>
          <a:p>
            <a:pPr>
              <a:spcAft>
                <a:spcPts val="300"/>
              </a:spcAft>
            </a:pPr>
            <a:r>
              <a:rPr sz="1450">
                <a:solidFill>
                  <a:srgbClr val="00E5FF"/>
                </a:solidFill>
                <a:latin typeface="Calibri"/>
              </a:rPr>
              <a:t>▪ </a:t>
            </a:r>
            <a:r>
              <a:rPr sz="1450">
                <a:solidFill>
                  <a:srgbClr val="E8EEF8"/>
                </a:solidFill>
                <a:latin typeface="Calibri"/>
              </a:rPr>
              <a:t>Also passed: Python compile check and SQL syntax parse of the 16 queries and the seed script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Limitations &amp; future improvements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FB300"/>
                </a:solidFill>
                <a:latin typeface="Calibri"/>
              </a:rPr>
              <a:t>KNOWN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Live results come from one single-user run on one machine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No login, roles or per-user audit trail — localhost demo only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No returns, discounts, taxes or multi-currency; employees are seed-only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LINE_TOTAL is a documented derived column; sale total consistency is service-enforced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Trigger has a test-cleanup bypass (remove for production)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Per-request connections, no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40680" cy="4983480"/>
          </a:xfrm>
          <a:prstGeom prst="roundRect">
            <a:avLst>
              <a:gd name="adj" fmla="val 6000"/>
            </a:avLst>
          </a:prstGeom>
          <a:solidFill>
            <a:srgbClr val="141B33"/>
          </a:solidFill>
          <a:ln w="15875">
            <a:solidFill>
              <a:srgbClr val="00E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FUTURE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2880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Authentication and role-based access (admin / cashier)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Connection pool; HTTPS deployment behind a WSGI server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Returns/refunds, purchase orders to suppliers, tax and discounts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Employee management screen; audit table fed by a trigger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CI pipeline with an Oracle test container</a:t>
            </a:r>
          </a:p>
          <a:p>
            <a:pPr>
              <a:spcAft>
                <a:spcPts val="600"/>
              </a:spcAft>
            </a:pPr>
            <a:r>
              <a:rPr sz="1550">
                <a:solidFill>
                  <a:srgbClr val="00E5FF"/>
                </a:solidFill>
                <a:latin typeface="Calibri"/>
              </a:rPr>
              <a:t>▪ </a:t>
            </a:r>
            <a:r>
              <a:rPr sz="1550">
                <a:solidFill>
                  <a:srgbClr val="E8EEF8"/>
                </a:solidFill>
                <a:latin typeface="Calibri"/>
              </a:rPr>
              <a:t>Charts and CSV export on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E8EEF8"/>
                </a:solidFill>
                <a:latin typeface="Calibri"/>
              </a:rPr>
              <a:t>Conclusion &amp; demonstration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005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9AA7C7"/>
                </a:solidFill>
                <a:latin typeface="Calibri"/>
              </a:rPr>
              <a:t>Electronic Appliance Store Management System · DBMS Review 2 · Sanjiv Shine Fernandas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9AA7C7"/>
                </a:solidFill>
                <a:latin typeface="Calibri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Delivered: normalized 7-table Oracle design, seed data, 16 queries, 4 PL/SQL-side objects, secure Flask service layer, CRUD, atomic sales, tests and report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00E5FF"/>
                </a:solidFill>
                <a:latin typeface="Calibri"/>
              </a:rPr>
              <a:t>▪ </a:t>
            </a:r>
            <a:r>
              <a:rPr sz="1600">
                <a:solidFill>
                  <a:srgbClr val="E8EEF8"/>
                </a:solidFill>
                <a:latin typeface="Calibri"/>
              </a:rPr>
              <a:t>Every claim above is backed by files in the repository; live Oracle results are labelled as a student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109960" cy="59436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79"/>
            <a:ext cx="10058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68879"/>
            <a:ext cx="97840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Code, SQL scripts, tests (76 passed offline), report PDF / DOCX / MD, this deck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08960"/>
            <a:ext cx="11109960" cy="59436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54679"/>
            <a:ext cx="10058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154679"/>
            <a:ext cx="97840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Screenshots of the real CRUD / sale templates (sample data) and honest 503 page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11109960" cy="59436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80"/>
            <a:ext cx="10058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840480"/>
            <a:ext cx="97840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schema.sql → advanced_features.sql → seed.sql loaded in XEPDB1; 16 queries ran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80560"/>
            <a:ext cx="11109960" cy="59436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10058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00E676"/>
                </a:solidFill>
                <a:latin typeface="Calibri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526280"/>
            <a:ext cx="97840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16 live integration tests PASSED on Oracle 21c XE (separate test schema)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109960" cy="594360"/>
          </a:xfrm>
          <a:prstGeom prst="roundRect">
            <a:avLst>
              <a:gd name="adj" fmla="val 10000"/>
            </a:avLst>
          </a:prstGeom>
          <a:solidFill>
            <a:srgbClr val="141B33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212080"/>
            <a:ext cx="100584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FB300"/>
                </a:solidFill>
                <a:latin typeface="Calibri"/>
              </a:rPr>
              <a:t>TO 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212080"/>
            <a:ext cx="978408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E8EEF8"/>
                </a:solidFill>
                <a:latin typeface="Calibri"/>
              </a:rPr>
              <a:t>Rehearse docs/demo_guide.md (10 minutes); regenerate report matrix after live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AA7C7"/>
                </a:solidFill>
                <a:latin typeface="Calibri"/>
              </a:rPr>
              <a:t>Demonstration readiness: live Oracle steps completed; rehearse the demo guide before the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