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project, the student and the Review 2 scope: database implementation and backend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master-data CRUD, sales, inventory reports. Out of scope: login/roles, returns, taxes.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direction of dependency. Only services/database.py opens connections.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tables, six one-to-many relationships. No cascade deletes, so sales history is protected. SALE_ITEMS keeps the price and quantity at sale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Deleting a customer, employee or product with history fails with ORA-02292, shown to the user as a friendly 409.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upfront: LINE_TOTAL is a derived column, a controlled trade-off. SALE_ITEMS.UNIT_PRICE is the historical price, not a copy of the current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Syntax-checked statically (sqlglot, Oracle dialect) for the queries; live execution on Oracle is pending — state this plainly.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concurrency proof (8 buyers, stock 5 -&gt; exactly 5 succeed) is an integration test that needs Oracle: BLOCKED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that the screenshots use stubbed service data. The real app without DB shows an honest 503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claim database verification. The BLOCKED tests are the ones that prove constraints, PL/SQL objects and concurrency on a real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 limitations openly is part of the evaluation criteria for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panel; offer to demonstrate the sale transaction and the failing constraint inserts.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75688"/>
            <a:ext cx="12191695" cy="36576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E5FF"/>
                </a:solidFill>
                <a:latin typeface="Calibri"/>
              </a:rPr>
              <a:t>DATABASE MANAGEMENT SYSTEMS · REVIEW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1">
                <a:solidFill>
                  <a:srgbClr val="E8EEF8"/>
                </a:solidFill>
                <a:latin typeface="Calibri"/>
              </a:rPr>
              <a:t>Electronic Appliance</a:t>
            </a:r>
          </a:p>
          <a:p>
            <a:pPr algn="l"/>
            <a:r>
              <a:rPr sz="4800" b="1">
                <a:solidFill>
                  <a:srgbClr val="E8EEF8"/>
                </a:solidFill>
                <a:latin typeface="Calibri"/>
              </a:rPr>
              <a:t>Store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>
                <a:solidFill>
                  <a:srgbClr val="9AA7C7"/>
                </a:solidFill>
                <a:latin typeface="Calibri"/>
              </a:rPr>
              <a:t>Database Implementation &amp; Backend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>
                <a:solidFill>
                  <a:srgbClr val="E8EEF8"/>
                </a:solidFill>
                <a:latin typeface="Calibri"/>
              </a:rPr>
              <a:t>Sanjiv Shine Fernandas</a:t>
            </a:r>
          </a:p>
          <a:p>
            <a:pPr algn="l"/>
            <a:r>
              <a:rPr sz="2000" b="0">
                <a:solidFill>
                  <a:srgbClr val="E8EEF8"/>
                </a:solidFill>
                <a:latin typeface="Calibri"/>
              </a:rPr>
              <a:t>Subject: Database Management Systems (DBMS)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754880"/>
            <a:ext cx="40233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Oracle Database 21c XE · XEPDB1</a:t>
            </a:r>
          </a:p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Flask · python-oracledb (Thin)</a:t>
            </a:r>
          </a:p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HTML5 · CSS3 · vanilla 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AA7C7"/>
                </a:solidFill>
                <a:latin typeface="Calibri"/>
              </a:rPr>
              <a:t>github.com/sanjiv283/Electronic_Appliance_Store_Manager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Problem statement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94960" cy="457200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Appliance retail: high-value items, changing prices, limited stock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Spreadsheets cause oversold items and lost price history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Customer, supplier and product data get duplicated and inconsistent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Concurrent cashiers can sell the same last unit twice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Managers need quick answers: revenue, best sellers, low stock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5074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Normalized (3NF) Oracle schema with full integrity constraints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Fictional seed data; 16 documented SQL queries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View, procedure, function and trigger in PL/SQL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Secure Flask ↔ Oracle connectivity (Thin mode, least-privilege user)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CRUD + an atomic, lock-ordered sales transaction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Automated tests with honest PASSED / BLOCKED reporting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Routes call services; services own all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3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34440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8016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636776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HTML5 · CSS3 · vanilla JS · Jinja2 CRUD forms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77639" y="2039112"/>
            <a:ext cx="274320" cy="219456"/>
          </a:xfrm>
          <a:prstGeom prst="down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58568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04288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Flask routes — app.py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60904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routes for CRUD, sales and health · safe error pages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977639" y="3063240"/>
            <a:ext cx="274320" cy="219456"/>
          </a:xfrm>
          <a:prstGeom prst="down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282696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28416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Service layer — services/*.py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85032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validation · CRUD · sales transaction — bind variables only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977639" y="4087368"/>
            <a:ext cx="274320" cy="219456"/>
          </a:xfrm>
          <a:prstGeom prst="down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306824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52544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services/database.py + python-oracledb (Thin)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connections · Oracle-error translation · config.py reads .env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3977639" y="5111496"/>
            <a:ext cx="274320" cy="219456"/>
          </a:xfrm>
          <a:prstGeom prst="down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330952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76672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Oracle 21c XE — XEPDB1 · schema appliance_app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33288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7 tables · view · procedure · function · trigger · sequence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1234440"/>
            <a:ext cx="3703320" cy="5029200"/>
          </a:xfrm>
          <a:prstGeom prst="roundRect">
            <a:avLst>
              <a:gd name="adj" fmla="val 6000"/>
            </a:avLst>
          </a:prstGeom>
          <a:solidFill>
            <a:srgbClr val="1C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132588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TECHNOLOGY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17830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Python · Flask · python-dotenv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python-oracledb, Thin mode (no Oracle Client)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Oracle Database 21c XE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pytest + fake DB connection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Windows local demonstration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Connects only as appliance_app — never SYS/SYSTEM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Entity-relationship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Key columns shown · full column list in report §11 · matches database/schema.sql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4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2743200" cy="992124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4650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CATEGORIES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084831"/>
            <a:ext cx="2560320" cy="6263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CATEGORY_ID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CATEGORY_NAME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DESCRIPTION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7448" y="1280160"/>
            <a:ext cx="2743200" cy="1385316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27448" y="128016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28930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627631"/>
            <a:ext cx="2560320" cy="10195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PRODUCT_ID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MODEL_NO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CATEGORY_ID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SUPPLIER_ID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UNIT_PRICE · STOCK_QTY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05672" y="1737360"/>
            <a:ext cx="2743200" cy="992124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05672" y="173736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5672" y="174650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7112" y="2084831"/>
            <a:ext cx="2560320" cy="6263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SUPPLIER_ID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SUPPLIER_NAME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CONTACT · EMAIL · PHONE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27448" y="3246120"/>
            <a:ext cx="2743200" cy="1385316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27448" y="324612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3255263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SALE_ITEMS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3593591"/>
            <a:ext cx="2560320" cy="10195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SALE_ITEM_ID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SALE_ID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PRODUCT_ID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QUANTITY · UNIT_PRICE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LINE_TOTAL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57800"/>
            <a:ext cx="2743200" cy="992124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25780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26694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CUSTOMERS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19" y="5605272"/>
            <a:ext cx="2560320" cy="6263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CUSTOMER_ID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EMAIL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FULL_NAME · PHONE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27448" y="5184648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27448" y="5184648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27448" y="5193792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SALES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18888" y="5532120"/>
            <a:ext cx="2560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SALE_ID · UK INVOICE_NO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CUSTOMER_ID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EMPLOYEE_ID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SALE_DATE · TOTAL_AMOUNT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05672" y="5257800"/>
            <a:ext cx="2743200" cy="992124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05672" y="525780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05672" y="526694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EMPLOYEES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7112" y="5605272"/>
            <a:ext cx="2560320" cy="6263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EMPLOYEE_ID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EMAIL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FULL_NAME · JOB_TITLE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3383280" y="1972817"/>
            <a:ext cx="1344168" cy="260605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456432" y="1959102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79976" y="1698497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2444" y="1828799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9AA7C7"/>
                </a:solidFill>
                <a:latin typeface="Calibri"/>
              </a:rPr>
              <a:t>classifies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7470648" y="1972817"/>
            <a:ext cx="1335024" cy="260605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58200" y="1959102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800" y="1698497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1828799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9AA7C7"/>
                </a:solidFill>
                <a:latin typeface="Calibri"/>
              </a:rPr>
              <a:t>supplies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99048" y="2665476"/>
            <a:ext cx="0" cy="580644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715000" y="2683764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0" y="2971800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08776" y="2818638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9AA7C7"/>
                </a:solidFill>
                <a:latin typeface="Calibri"/>
              </a:rPr>
              <a:t>appears in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6099048" y="4631436"/>
            <a:ext cx="0" cy="553212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715000" y="4910328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0" y="4649723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08776" y="4770881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9AA7C7"/>
                </a:solidFill>
                <a:latin typeface="Calibri"/>
              </a:rPr>
              <a:t>contains (1..N)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383280" y="5753862"/>
            <a:ext cx="1344168" cy="25146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456432" y="5479542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5504688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52444" y="5492115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9AA7C7"/>
                </a:solidFill>
                <a:latin typeface="Calibri"/>
              </a:rPr>
              <a:t>places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7470648" y="5753862"/>
            <a:ext cx="1335024" cy="25146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458200" y="5479542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43800" y="5504688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5492115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9AA7C7"/>
                </a:solidFill>
                <a:latin typeface="Calibri"/>
              </a:rPr>
              <a:t>processes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Database schema &amp; relationships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Identity primary keys · all foreign keys are restrict (no cascade)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5 / 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1099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828800"/>
                <a:gridCol w="2926080"/>
                <a:gridCol w="4617720"/>
              </a:tblGrid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Table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Primary key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Foreign keys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Unique / CHECK highlights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CATEGORIES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CATEGORY_ID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category name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SUPPLIERS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SUPPLIER_ID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supplier name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PRODUCTS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PRODUCT_ID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CATEGORY_ID, SUPPLIER_ID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model no · price ≥ 0 · stock ≥ 0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e-mail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EMPLOYEES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EMPLOYEE_ID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e-mail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SALE_ID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CUSTOMER_ID, EMPLOYEE_ID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invoice no · payment ∈ {CASH, CARD, UPI, BANK_TRANSFER} · total &gt; 0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SALE_ITEMS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SALE_ITEM_ID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SALE_ID, PRODUCT_ID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(sale, product) · qty &gt; 0 · line total = qty × price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Relationships: category→products, supplier→products, customer→sales, employee→sales, sale→items, product→items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7 tables · 6 indexes on FK/report columns · sequence SEQ_INVOICE_NO · sample data: 14 products, 8 sales, 15 sale items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Normalization: 1NF → 3NF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6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0E5FF"/>
                </a:solidFill>
                <a:latin typeface="Calibri"/>
              </a:rPr>
              <a:t>1NF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Atomic columns, a key in every table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No repeating groups: many products per sale = rows in SALE_ITEMS, not PRODUCT1, PRODUCT2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28016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FF2E93"/>
                </a:solidFill>
                <a:latin typeface="Calibri"/>
              </a:rPr>
              <a:t>2NF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01168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Single-column surrogate keys: no partial dependency possible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SALE_ITEMS (SALE_ID, PRODUCT_ID): qty and price depend on both; product name is NOT copied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28016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9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0E676"/>
                </a:solidFill>
                <a:latin typeface="Calibri"/>
              </a:rPr>
              <a:t>3NF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01168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Non-key attributes depend only on the key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PRODUCTS stores category/supplier as FKs, not names; SALES stores no customer or employee names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46320"/>
            <a:ext cx="11109960" cy="1508760"/>
          </a:xfrm>
          <a:prstGeom prst="roundRect">
            <a:avLst>
              <a:gd name="adj" fmla="val 6000"/>
            </a:avLst>
          </a:prstGeom>
          <a:solidFill>
            <a:srgbClr val="1C2547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920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FFB300"/>
                </a:solidFill>
                <a:latin typeface="Calibri"/>
              </a:rPr>
              <a:t>DOCUMENTED, DELIBERATE REDUNDANCY (not hidden)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>
                <a:solidFill>
                  <a:srgbClr val="00E5FF"/>
                </a:solidFill>
                <a:latin typeface="Calibri"/>
              </a:rPr>
              <a:t>▪ </a:t>
            </a:r>
            <a:r>
              <a:rPr sz="1350">
                <a:solidFill>
                  <a:srgbClr val="E8EEF8"/>
                </a:solidFill>
                <a:latin typeface="Calibri"/>
              </a:rPr>
              <a:t>SALE_ITEMS.LINE_TOTAL = QUANTITY × UNIT_PRICE is derived, so strictly SALE_ITEMS is not 3NF — kept for audit/reporting and guarded by a CHECK constraint</a:t>
            </a:r>
          </a:p>
          <a:p>
            <a:pPr>
              <a:spcAft>
                <a:spcPts val="300"/>
              </a:spcAft>
            </a:pPr>
            <a:r>
              <a:rPr sz="1350">
                <a:solidFill>
                  <a:srgbClr val="00E5FF"/>
                </a:solidFill>
                <a:latin typeface="Calibri"/>
              </a:rPr>
              <a:t>▪ </a:t>
            </a:r>
            <a:r>
              <a:rPr sz="1350">
                <a:solidFill>
                  <a:srgbClr val="E8EEF8"/>
                </a:solidFill>
                <a:latin typeface="Calibri"/>
              </a:rPr>
              <a:t>SALES.TOTAL_AMOUNT = sum of lines: computed once by the service; view V_SALES_SUMMARY exposes mismatches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SQL queries &amp; advanced database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16 numbered queries in queries.sql · 4 objects in advanced_features.sql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7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5577840" cy="50749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9844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16 QUERIES — CONCEPTS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Filtering, IN-subquery, INNER / LEFT JOIN (Q1–Q6)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5-table join over an invoice (Q7)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GROUP BY, SUM/COUNT/AVG, HAVING (Q8–Q10)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Scalar &amp; correlated subqueries (Q11–Q12)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NOT EXISTS, FETCH FIRST, RANK(), CASE (Q13–Q16)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5212080" cy="2011680"/>
          </a:xfrm>
          <a:prstGeom prst="roundRect">
            <a:avLst>
              <a:gd name="adj" fmla="val 3000"/>
            </a:avLst>
          </a:prstGeom>
          <a:solidFill>
            <a:srgbClr val="0B1020"/>
          </a:solidFill>
          <a:ln w="9525">
            <a:solidFill>
              <a:srgbClr val="9AA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50292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-- Query 12: above own-category average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SELECT p.PRODUCT_NAME, p.UNIT_PRICE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  FROM PRODUCTS p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 WHERE p.UNIT_PRICE &gt;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   (SELECT AVG(p2.UNIT_PRICE) FROM PRODUCTS p2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     WHERE p2.CATEGORY_ID = p.CATEGORY_ID);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34440"/>
            <a:ext cx="5303520" cy="50749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29844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PL/SQL OBJECTS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1737360"/>
            <a:ext cx="4937760" cy="987552"/>
          </a:xfrm>
          <a:prstGeom prst="roundRect">
            <a:avLst>
              <a:gd name="adj" fmla="val 5000"/>
            </a:avLst>
          </a:prstGeom>
          <a:solidFill>
            <a:srgbClr val="1C2547"/>
          </a:solidFill>
          <a:ln w="12700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773936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>
                <a:solidFill>
                  <a:srgbClr val="E8EEF8"/>
                </a:solidFill>
                <a:latin typeface="Consolas"/>
              </a:rPr>
              <a:t>V_SALES_SUMMARY  (view)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157984"/>
            <a:ext cx="4709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9AA7C7"/>
                </a:solidFill>
                <a:latin typeface="Calibri"/>
              </a:rPr>
              <a:t>sale + customer + employee + line count + TOTAL_MATCHES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852928"/>
            <a:ext cx="4937760" cy="987552"/>
          </a:xfrm>
          <a:prstGeom prst="roundRect">
            <a:avLst>
              <a:gd name="adj" fmla="val 5000"/>
            </a:avLst>
          </a:prstGeom>
          <a:solidFill>
            <a:srgbClr val="1C2547"/>
          </a:solidFill>
          <a:ln w="12700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889504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>
                <a:solidFill>
                  <a:srgbClr val="E8EEF8"/>
                </a:solidFill>
                <a:latin typeface="Consolas"/>
              </a:rPr>
              <a:t>SP_RESTOCK_PRODUCT  (procedure)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273552"/>
            <a:ext cx="4709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9AA7C7"/>
                </a:solidFill>
                <a:latin typeface="Calibri"/>
              </a:rPr>
              <a:t>adds stock under a row lock; ORA-20001 / 20002 errors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3968496"/>
            <a:ext cx="4937760" cy="987552"/>
          </a:xfrm>
          <a:prstGeom prst="roundRect">
            <a:avLst>
              <a:gd name="adj" fmla="val 5000"/>
            </a:avLst>
          </a:prstGeom>
          <a:solidFill>
            <a:srgbClr val="1C2547"/>
          </a:solidFill>
          <a:ln w="12700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005072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>
                <a:solidFill>
                  <a:srgbClr val="E8EEF8"/>
                </a:solidFill>
                <a:latin typeface="Consolas"/>
              </a:rPr>
              <a:t>FN_CUSTOMER_TOTAL_SPEND  (function)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389120"/>
            <a:ext cx="4709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9AA7C7"/>
                </a:solidFill>
                <a:latin typeface="Calibri"/>
              </a:rPr>
              <a:t>lifetime spend, 0 if none; ORA-20010 unknown customer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5084064"/>
            <a:ext cx="4937760" cy="987552"/>
          </a:xfrm>
          <a:prstGeom prst="roundRect">
            <a:avLst>
              <a:gd name="adj" fmla="val 5000"/>
            </a:avLst>
          </a:prstGeom>
          <a:solidFill>
            <a:srgbClr val="1C2547"/>
          </a:solidFill>
          <a:ln w="12700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5120640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>
                <a:solidFill>
                  <a:srgbClr val="E8EEF8"/>
                </a:solidFill>
                <a:latin typeface="Consolas"/>
              </a:rPr>
              <a:t>TRG_SALES_PROTECT_HISTORY  (trigger)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504688"/>
            <a:ext cx="4709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9AA7C7"/>
                </a:solidFill>
                <a:latin typeface="Calibri"/>
              </a:rPr>
              <a:t>blocks DELETE / UPDATE of posted sales (ORA-20030 / 20031); no stock logic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Flask backend &amp; Oracle connectivity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394960" cy="50749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9844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CONNECTIVITY &amp;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config.py: DB_HOST / PORT / SERVICE_NAME / USER / PASSWORD from .env; placeholders count as missing; SYS/SYSTEM refused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python-oracledb Thin mode; connection per unit of work, always closed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Bind variables only; server-side validation; Decimal for money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ORA errors translated to safe 400 / 404 / 409 / 503 messages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/health and python -m services.database report success only after a real round trip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CRUD: products, categories, suppliers, customers (+ sales and restock)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440680" cy="50749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9844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ATOMIC SALE — services/sales.py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737360"/>
            <a:ext cx="5074920" cy="3246120"/>
          </a:xfrm>
          <a:prstGeom prst="roundRect">
            <a:avLst>
              <a:gd name="adj" fmla="val 3000"/>
            </a:avLst>
          </a:prstGeom>
          <a:solidFill>
            <a:srgbClr val="0B1020"/>
          </a:solidFill>
          <a:ln w="9525">
            <a:solidFill>
              <a:srgbClr val="9AA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493776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1  validate ids, payment, items (qty 1–1000)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2  check customer &amp; employee exist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3  SELECT … FOR UPDATE WAIT 10 per product,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    in ascending product id (no deadlock)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4  re-check stock after ALL locks held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5  total = Σ DB price × qty  (never client)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6  INSERT sale + items, UPDATE stock (once)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7  COMMIT   — any error → ROLLBACK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12064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>
                <a:solidFill>
                  <a:srgbClr val="00E5FF"/>
                </a:solidFill>
                <a:latin typeface="Calibri"/>
              </a:rPr>
              <a:t>▪ </a:t>
            </a:r>
            <a:r>
              <a:rPr sz="1350">
                <a:solidFill>
                  <a:srgbClr val="E8EEF8"/>
                </a:solidFill>
                <a:latin typeface="Calibri"/>
              </a:rPr>
              <a:t>Stock is deducted only here — the trigger never touches inventory</a:t>
            </a:r>
          </a:p>
          <a:p>
            <a:pPr>
              <a:spcAft>
                <a:spcPts val="300"/>
              </a:spcAft>
            </a:pPr>
            <a:r>
              <a:rPr sz="1350">
                <a:solidFill>
                  <a:srgbClr val="00E5FF"/>
                </a:solidFill>
                <a:latin typeface="Calibri"/>
              </a:rPr>
              <a:t>▪ </a:t>
            </a:r>
            <a:r>
              <a:rPr sz="1350">
                <a:solidFill>
                  <a:srgbClr val="E8EEF8"/>
                </a:solidFill>
                <a:latin typeface="Calibri"/>
              </a:rPr>
              <a:t>Oversell protection: row locks + CHECK (STOCK_QTY ≥ 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CRUD screens &amp; sales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Real Flask routes and templates · sample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9 / 12</a:t>
            </a:r>
          </a:p>
        </p:txBody>
      </p:sp>
      <p:pic>
        <p:nvPicPr>
          <p:cNvPr id="8" name="Picture 7" descr="ui_product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86400" cy="3213119"/>
          </a:xfrm>
          <a:prstGeom prst="rect">
            <a:avLst/>
          </a:prstGeom>
        </p:spPr>
      </p:pic>
      <p:pic>
        <p:nvPicPr>
          <p:cNvPr id="9" name="Picture 8" descr="ui_new_s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5486400" cy="3213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Products: create / edit / delete / restock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572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New sale — two lines, estimate only (server recalculates)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Workflow: add / edit master data → New Sale → invoice page → stock falls exactly once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Invalid input, missing references and referenced-row deletes return clear 400 / 404 / 409 messages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FFB300"/>
                </a:solidFill>
                <a:latin typeface="Calibri"/>
              </a:rPr>
              <a:t>Screenshots show the real templates and routes rendered with seed-equivalent sample data — no Oracle was available, so they are not live database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Testing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Strict statuses: PASSED · FAILED · NOT RUN · BLOCKED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10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00E676"/>
                </a:solidFill>
                <a:latin typeface="Calibri"/>
              </a:rPr>
              <a:t>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E8EEF8"/>
                </a:solidFill>
                <a:latin typeface="Calibri"/>
              </a:rPr>
              <a:t>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234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2801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B300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E8EEF8"/>
                </a:solidFill>
                <a:latin typeface="Calibri"/>
              </a:rPr>
              <a:t>BLOCKED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34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1344" y="12801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5252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44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E8EEF8"/>
                </a:solidFill>
                <a:latin typeface="Calibri"/>
              </a:rPr>
              <a:t>FAILED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234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9AA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12801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9AA7C7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E8EEF8"/>
                </a:solidFill>
                <a:latin typeface="Calibri"/>
              </a:rPr>
              <a:t>NOT RUN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288036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8036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test_config.py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Configuration rules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12 PASSED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test_services.py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Validation, CRUD, sale transaction (fake DB)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45 PASSED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test_routes.py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Routes, CSRF, errors, escaping, health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19 PASSED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test_oracle_integration.py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Live Oracle (constraints, PL/SQL, locking)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B300"/>
                          </a:solidFill>
                          <a:latin typeface="Calibri"/>
                        </a:rPr>
                        <a:t>16 BLOCKED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49834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76 offline tests passed using a FAKE database connection: they prove application logic, not Oracle behaviour</a:t>
            </a:r>
          </a:p>
          <a:p>
            <a:pPr>
              <a:spcAft>
                <a:spcPts val="3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16 live Oracle integration tests are BLOCKED / unverified — no Oracle instance was available; they are ready to run (README §9)</a:t>
            </a:r>
          </a:p>
          <a:p>
            <a:pPr>
              <a:spcAft>
                <a:spcPts val="3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Also passed: Python compile check and SQL syntax parse of the 16 queries and the seed 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Limitations &amp; future improvements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440680" cy="49834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B300"/>
                </a:solidFill>
                <a:latin typeface="Calibri"/>
              </a:rPr>
              <a:t>KNOWN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Not yet run against a live Oracle instance (16 tests BLOCKED)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No login, roles or per-user audit trail — localhost demo only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No returns, discounts, taxes or multi-currency; employees are seed-only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LINE_TOTAL is a documented derived column; sale total consistency is service-enforced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Trigger has a test-cleanup bypass (remove for production)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Per-request connections, no pool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40680" cy="49834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FUTURE IMPROVEMENTS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Authentication and role-based access (admin / cashier)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Connection pool; HTTPS deployment behind a WSGI server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Returns/refunds, purchase orders to suppliers, tax and discounts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Employee management screen; audit table fed by a trigger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CI pipeline with an Oracle test container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Charts and CSV export on reports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Conclusion &amp; demonstration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Delivered: normalized 7-table Oracle design, seed data, 16 queries, 4 PL/SQL-side objects, secure Flask service layer, CRUD, atomic sales, tests and report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Every claim above is backed by files in the repository; unverified items are labelled BLOCKED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79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E676"/>
                </a:solidFill>
                <a:latin typeface="Calibri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468879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Code, SQL scripts, tests (76 passed offline), report PDF / DOCX / MD, this deck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54679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E676"/>
                </a:solidFill>
                <a:latin typeface="Calibri"/>
              </a:rPr>
              <a:t>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154679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Screenshots of the real CRUD / sale templates (sample data) and honest 503 page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B300"/>
                </a:solidFill>
                <a:latin typeface="Calibri"/>
              </a:rPr>
              <a:t>TO 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840480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Run schema.sql → advanced_features.sql → seed.sql in XEPDB1 as appliance_app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05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26280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B300"/>
                </a:solidFill>
                <a:latin typeface="Calibri"/>
              </a:rPr>
              <a:t>TO 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526280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python -m services.database  then the live integration tests (separate test schema)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12080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B300"/>
                </a:solidFill>
                <a:latin typeface="Calibri"/>
              </a:rPr>
              <a:t>TO 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212080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Rehearse docs/demo_guide.md (10 minutes); regenerate report matrix after live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Demonstration readiness: ready once the three live Oracle steps are completed on the presenter's machine.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